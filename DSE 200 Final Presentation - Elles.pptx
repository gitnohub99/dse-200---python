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7" r:id="rId6"/>
    <p:sldId id="264" r:id="rId7"/>
    <p:sldId id="265" r:id="rId8"/>
    <p:sldId id="266" r:id="rId9"/>
    <p:sldId id="260" r:id="rId10"/>
    <p:sldId id="261" r:id="rId11"/>
    <p:sldId id="263" r:id="rId12"/>
    <p:sldId id="262" r:id="rId13"/>
    <p:sldId id="269" r:id="rId14"/>
    <p:sldId id="270" r:id="rId15"/>
    <p:sldId id="271" r:id="rId16"/>
    <p:sldId id="273"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0B6191-090B-4734-32B3-64A2412E68CA}" v="14" dt="2025-12-02T06:12:46.381"/>
    <p1510:client id="{88DBE516-F9D2-4012-BB04-24F576A7271F}" v="247" dt="2025-12-02T06:18:49.450"/>
    <p1510:client id="{D7D48BD5-D38B-5A8D-57E5-2085F63F28CC}" v="729" dt="2025-12-01T22:51:30.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06" d="100"/>
          <a:sy n="106" d="100"/>
        </p:scale>
        <p:origin x="7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12/1/2025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40943211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12/1/2025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50251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12/1/2025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64067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12/1/2025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897435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12/1/2025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125802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12/1/2025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18601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12/1/2025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966618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12/1/2025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1431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12/1/2025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543786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12/1/2025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968714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12/1/2025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798175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12/1/2025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3230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AF1C7-4EB5-6F46-89BC-B66E08893A3E}"/>
              </a:ext>
            </a:extLst>
          </p:cNvPr>
          <p:cNvSpPr>
            <a:spLocks noGrp="1"/>
          </p:cNvSpPr>
          <p:nvPr>
            <p:ph type="ctrTitle"/>
          </p:nvPr>
        </p:nvSpPr>
        <p:spPr>
          <a:xfrm>
            <a:off x="2354045" y="4414525"/>
            <a:ext cx="7269789" cy="743021"/>
          </a:xfrm>
        </p:spPr>
        <p:txBody>
          <a:bodyPr>
            <a:normAutofit fontScale="90000"/>
          </a:bodyPr>
          <a:lstStyle/>
          <a:p>
            <a:r>
              <a:rPr lang="en-US" b="1" dirty="0"/>
              <a:t>Investigating Effects on Tesla stock</a:t>
            </a:r>
          </a:p>
        </p:txBody>
      </p:sp>
      <p:sp>
        <p:nvSpPr>
          <p:cNvPr id="3" name="Subtitle 2">
            <a:extLst>
              <a:ext uri="{FF2B5EF4-FFF2-40B4-BE49-F238E27FC236}">
                <a16:creationId xmlns:a16="http://schemas.microsoft.com/office/drawing/2014/main" id="{BCD224C9-C95B-EE35-327B-E4C0D09BD51C}"/>
              </a:ext>
            </a:extLst>
          </p:cNvPr>
          <p:cNvSpPr>
            <a:spLocks noGrp="1"/>
          </p:cNvSpPr>
          <p:nvPr>
            <p:ph type="subTitle" idx="1"/>
          </p:nvPr>
        </p:nvSpPr>
        <p:spPr>
          <a:xfrm>
            <a:off x="3094438" y="5381895"/>
            <a:ext cx="5789002" cy="740811"/>
          </a:xfrm>
        </p:spPr>
        <p:txBody>
          <a:bodyPr>
            <a:normAutofit fontScale="92500" lnSpcReduction="20000"/>
          </a:bodyPr>
          <a:lstStyle/>
          <a:p>
            <a:pPr algn="ctr"/>
            <a:r>
              <a:rPr lang="en-US" dirty="0"/>
              <a:t>Patrick Elles &amp; Samuel Constante</a:t>
            </a:r>
          </a:p>
          <a:p>
            <a:pPr algn="ctr"/>
            <a:r>
              <a:rPr lang="en-US" sz="1400" dirty="0"/>
              <a:t>DSE200 – Fall 2025</a:t>
            </a:r>
          </a:p>
        </p:txBody>
      </p:sp>
      <p:pic>
        <p:nvPicPr>
          <p:cNvPr id="4" name="Picture 3" descr="A red and black logo&#10;&#10;AI-generated content may be incorrect.">
            <a:extLst>
              <a:ext uri="{FF2B5EF4-FFF2-40B4-BE49-F238E27FC236}">
                <a16:creationId xmlns:a16="http://schemas.microsoft.com/office/drawing/2014/main" id="{89C743F9-196D-9372-5D25-214F80FFDCBB}"/>
              </a:ext>
            </a:extLst>
          </p:cNvPr>
          <p:cNvPicPr>
            <a:picLocks noChangeAspect="1"/>
          </p:cNvPicPr>
          <p:nvPr/>
        </p:nvPicPr>
        <p:blipFill>
          <a:blip r:embed="rId2"/>
          <a:stretch>
            <a:fillRect/>
          </a:stretch>
        </p:blipFill>
        <p:spPr>
          <a:xfrm>
            <a:off x="3806614" y="2061307"/>
            <a:ext cx="1364697" cy="1758463"/>
          </a:xfrm>
          <a:prstGeom prst="rect">
            <a:avLst/>
          </a:prstGeom>
        </p:spPr>
      </p:pic>
      <p:pic>
        <p:nvPicPr>
          <p:cNvPr id="7" name="Picture 6" descr="A graph with a dollar sign&#10;&#10;AI-generated content may be incorrect.">
            <a:extLst>
              <a:ext uri="{FF2B5EF4-FFF2-40B4-BE49-F238E27FC236}">
                <a16:creationId xmlns:a16="http://schemas.microsoft.com/office/drawing/2014/main" id="{0145C85D-B34D-549B-18D8-FD35E140173D}"/>
              </a:ext>
            </a:extLst>
          </p:cNvPr>
          <p:cNvPicPr>
            <a:picLocks noChangeAspect="1"/>
          </p:cNvPicPr>
          <p:nvPr/>
        </p:nvPicPr>
        <p:blipFill>
          <a:blip r:embed="rId3"/>
          <a:stretch>
            <a:fillRect/>
          </a:stretch>
        </p:blipFill>
        <p:spPr>
          <a:xfrm>
            <a:off x="6100884" y="2066192"/>
            <a:ext cx="1953847" cy="1944078"/>
          </a:xfrm>
          <a:prstGeom prst="rect">
            <a:avLst/>
          </a:prstGeom>
        </p:spPr>
      </p:pic>
    </p:spTree>
    <p:extLst>
      <p:ext uri="{BB962C8B-B14F-4D97-AF65-F5344CB8AC3E}">
        <p14:creationId xmlns:p14="http://schemas.microsoft.com/office/powerpoint/2010/main" val="1259656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0182-BC5A-5F32-3653-16CF6353A73D}"/>
              </a:ext>
            </a:extLst>
          </p:cNvPr>
          <p:cNvSpPr>
            <a:spLocks noGrp="1"/>
          </p:cNvSpPr>
          <p:nvPr>
            <p:ph type="title"/>
          </p:nvPr>
        </p:nvSpPr>
        <p:spPr>
          <a:xfrm>
            <a:off x="552262" y="0"/>
            <a:ext cx="7704498" cy="1187570"/>
          </a:xfrm>
        </p:spPr>
        <p:txBody>
          <a:bodyPr>
            <a:normAutofit/>
          </a:bodyPr>
          <a:lstStyle/>
          <a:p>
            <a:r>
              <a:rPr lang="en-US" sz="3200" dirty="0"/>
              <a:t>Tesla Stock Data Frame Compared to </a:t>
            </a:r>
            <a:br>
              <a:rPr lang="en-US" sz="3200" dirty="0"/>
            </a:br>
            <a:r>
              <a:rPr lang="en-US" sz="3200" dirty="0"/>
              <a:t>Tesla News and Elon Musk’s Tweets </a:t>
            </a:r>
          </a:p>
        </p:txBody>
      </p:sp>
      <p:sp>
        <p:nvSpPr>
          <p:cNvPr id="3" name="Content Placeholder 2">
            <a:extLst>
              <a:ext uri="{FF2B5EF4-FFF2-40B4-BE49-F238E27FC236}">
                <a16:creationId xmlns:a16="http://schemas.microsoft.com/office/drawing/2014/main" id="{35CD01A8-9E67-E341-0C72-8BD78AAB6C94}"/>
              </a:ext>
            </a:extLst>
          </p:cNvPr>
          <p:cNvSpPr>
            <a:spLocks noGrp="1"/>
          </p:cNvSpPr>
          <p:nvPr>
            <p:ph idx="1"/>
          </p:nvPr>
        </p:nvSpPr>
        <p:spPr>
          <a:xfrm>
            <a:off x="715224" y="1409381"/>
            <a:ext cx="10363200" cy="3382658"/>
          </a:xfrm>
        </p:spPr>
        <p:txBody>
          <a:bodyPr vert="horz" lIns="91440" tIns="45720" rIns="91440" bIns="45720" rtlCol="0" anchor="t">
            <a:normAutofit fontScale="92500" lnSpcReduction="20000"/>
          </a:bodyPr>
          <a:lstStyle/>
          <a:p>
            <a:pPr marL="0" indent="0">
              <a:buNone/>
            </a:pPr>
            <a:r>
              <a:rPr lang="en-US" u="sng" dirty="0"/>
              <a:t>Background</a:t>
            </a:r>
          </a:p>
          <a:p>
            <a:r>
              <a:rPr lang="en-US" dirty="0"/>
              <a:t>We both recognized that Tesla's stock price is significantly influenced by Elon Musk's public statements and media coverage surrounding the company.</a:t>
            </a:r>
          </a:p>
          <a:p>
            <a:r>
              <a:rPr lang="en-US" dirty="0"/>
              <a:t>Our goal was to identify specific language and press coverage, if any, drives these stock price movements.</a:t>
            </a:r>
          </a:p>
          <a:p>
            <a:pPr marL="0" indent="0">
              <a:buNone/>
            </a:pPr>
            <a:r>
              <a:rPr lang="en-US" u="sng" dirty="0"/>
              <a:t>Research questions</a:t>
            </a:r>
          </a:p>
          <a:p>
            <a:pPr marL="228219"/>
            <a:r>
              <a:rPr lang="en-US" b="1" i="1" dirty="0"/>
              <a:t>Which terms used in article titles or Elon’s twitter posts have the greatest impact on Tesla share price?</a:t>
            </a:r>
          </a:p>
          <a:p>
            <a:pPr marL="228219"/>
            <a:r>
              <a:rPr lang="en-US" b="1" dirty="0"/>
              <a:t>Can Tesla be trusted as a stable, rising stock?</a:t>
            </a:r>
          </a:p>
        </p:txBody>
      </p:sp>
    </p:spTree>
    <p:extLst>
      <p:ext uri="{BB962C8B-B14F-4D97-AF65-F5344CB8AC3E}">
        <p14:creationId xmlns:p14="http://schemas.microsoft.com/office/powerpoint/2010/main" val="3055538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1AE4C-C9A0-9A5A-0322-2CA9C687A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D9892-F40E-CFC4-0DF4-C41899AAAB86}"/>
              </a:ext>
            </a:extLst>
          </p:cNvPr>
          <p:cNvSpPr>
            <a:spLocks noGrp="1"/>
          </p:cNvSpPr>
          <p:nvPr>
            <p:ph type="title"/>
          </p:nvPr>
        </p:nvSpPr>
        <p:spPr>
          <a:xfrm>
            <a:off x="724277" y="166077"/>
            <a:ext cx="10363200" cy="1187570"/>
          </a:xfrm>
        </p:spPr>
        <p:txBody>
          <a:bodyPr/>
          <a:lstStyle/>
          <a:p>
            <a:r>
              <a:rPr lang="en-US" dirty="0"/>
              <a:t>Tesla Stock Data Frame</a:t>
            </a:r>
          </a:p>
        </p:txBody>
      </p:sp>
      <p:sp>
        <p:nvSpPr>
          <p:cNvPr id="3" name="Content Placeholder 2">
            <a:extLst>
              <a:ext uri="{FF2B5EF4-FFF2-40B4-BE49-F238E27FC236}">
                <a16:creationId xmlns:a16="http://schemas.microsoft.com/office/drawing/2014/main" id="{4969B8C2-F348-4FDD-436E-E98B3685CD23}"/>
              </a:ext>
            </a:extLst>
          </p:cNvPr>
          <p:cNvSpPr>
            <a:spLocks noGrp="1"/>
          </p:cNvSpPr>
          <p:nvPr>
            <p:ph idx="1"/>
          </p:nvPr>
        </p:nvSpPr>
        <p:spPr>
          <a:xfrm>
            <a:off x="0" y="1720633"/>
            <a:ext cx="6915249" cy="4040139"/>
          </a:xfrm>
        </p:spPr>
        <p:txBody>
          <a:bodyPr vert="horz" lIns="91440" tIns="45720" rIns="91440" bIns="45720" rtlCol="0" anchor="t">
            <a:normAutofit/>
          </a:bodyPr>
          <a:lstStyle/>
          <a:p>
            <a:pPr marL="0" indent="0">
              <a:buNone/>
            </a:pPr>
            <a:r>
              <a:rPr lang="en-US" sz="1600" b="1" u="sng" dirty="0"/>
              <a:t>Background</a:t>
            </a:r>
          </a:p>
          <a:p>
            <a:r>
              <a:rPr lang="en-US" sz="1600" dirty="0"/>
              <a:t>Captures the share price from 2010 to 2025</a:t>
            </a:r>
          </a:p>
          <a:p>
            <a:r>
              <a:rPr lang="en-US" sz="1600" dirty="0"/>
              <a:t>Includes only days where trading occurred</a:t>
            </a:r>
          </a:p>
          <a:p>
            <a:r>
              <a:rPr lang="en-US" sz="1600" dirty="0"/>
              <a:t>Captures the volatile rise of Tesla's share price through the early 2000s</a:t>
            </a:r>
          </a:p>
          <a:p>
            <a:pPr marL="0" indent="0">
              <a:buNone/>
            </a:pPr>
            <a:r>
              <a:rPr lang="en-US" sz="1600" b="1" u="sng" dirty="0"/>
              <a:t>Insights</a:t>
            </a:r>
          </a:p>
          <a:p>
            <a:r>
              <a:rPr lang="en-US" sz="1600" dirty="0"/>
              <a:t>Tesla share price change is very unpredictable and drastic</a:t>
            </a:r>
          </a:p>
          <a:p>
            <a:r>
              <a:rPr lang="en-US" sz="1600" dirty="0"/>
              <a:t>Change is often correlated with quarterly reports and earning calls</a:t>
            </a:r>
          </a:p>
          <a:p>
            <a:r>
              <a:rPr lang="en-US" sz="1600" dirty="0"/>
              <a:t>Tesla has been gradually dominating the stock market, but it is far from a blue-chip stock because of its volatility</a:t>
            </a:r>
          </a:p>
          <a:p>
            <a:r>
              <a:rPr lang="en-US" sz="1600" dirty="0"/>
              <a:t>There is a proven correlation between terminology and stock change</a:t>
            </a:r>
          </a:p>
          <a:p>
            <a:endParaRPr lang="en-US" sz="1600" dirty="0"/>
          </a:p>
        </p:txBody>
      </p:sp>
      <p:pic>
        <p:nvPicPr>
          <p:cNvPr id="5" name="Picture 4">
            <a:extLst>
              <a:ext uri="{FF2B5EF4-FFF2-40B4-BE49-F238E27FC236}">
                <a16:creationId xmlns:a16="http://schemas.microsoft.com/office/drawing/2014/main" id="{9F1C5E81-1423-D1F2-DBDE-0F153D248257}"/>
              </a:ext>
            </a:extLst>
          </p:cNvPr>
          <p:cNvPicPr>
            <a:picLocks noChangeAspect="1"/>
          </p:cNvPicPr>
          <p:nvPr/>
        </p:nvPicPr>
        <p:blipFill>
          <a:blip r:embed="rId2"/>
          <a:stretch>
            <a:fillRect/>
          </a:stretch>
        </p:blipFill>
        <p:spPr>
          <a:xfrm>
            <a:off x="6991228" y="3126741"/>
            <a:ext cx="4793192" cy="3619500"/>
          </a:xfrm>
          <a:prstGeom prst="rect">
            <a:avLst/>
          </a:prstGeom>
        </p:spPr>
      </p:pic>
      <p:pic>
        <p:nvPicPr>
          <p:cNvPr id="7" name="Picture 6" descr="A graph with blue lines&#10;&#10;AI-generated content may be incorrect.">
            <a:extLst>
              <a:ext uri="{FF2B5EF4-FFF2-40B4-BE49-F238E27FC236}">
                <a16:creationId xmlns:a16="http://schemas.microsoft.com/office/drawing/2014/main" id="{6664BC31-8D41-5C7F-0C2B-7184A5BD8DE1}"/>
              </a:ext>
            </a:extLst>
          </p:cNvPr>
          <p:cNvPicPr>
            <a:picLocks noChangeAspect="1"/>
          </p:cNvPicPr>
          <p:nvPr/>
        </p:nvPicPr>
        <p:blipFill>
          <a:blip r:embed="rId3"/>
          <a:stretch>
            <a:fillRect/>
          </a:stretch>
        </p:blipFill>
        <p:spPr>
          <a:xfrm>
            <a:off x="6899519" y="-552"/>
            <a:ext cx="4476750" cy="3117850"/>
          </a:xfrm>
          <a:prstGeom prst="rect">
            <a:avLst/>
          </a:prstGeom>
        </p:spPr>
      </p:pic>
    </p:spTree>
    <p:extLst>
      <p:ext uri="{BB962C8B-B14F-4D97-AF65-F5344CB8AC3E}">
        <p14:creationId xmlns:p14="http://schemas.microsoft.com/office/powerpoint/2010/main" val="75250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90AFC-F0CE-417D-E82E-1E46ED75FC88}"/>
              </a:ext>
            </a:extLst>
          </p:cNvPr>
          <p:cNvSpPr>
            <a:spLocks noGrp="1"/>
          </p:cNvSpPr>
          <p:nvPr>
            <p:ph type="title"/>
          </p:nvPr>
        </p:nvSpPr>
        <p:spPr>
          <a:xfrm>
            <a:off x="796705" y="239918"/>
            <a:ext cx="10363200" cy="1187570"/>
          </a:xfrm>
        </p:spPr>
        <p:txBody>
          <a:bodyPr/>
          <a:lstStyle/>
          <a:p>
            <a:r>
              <a:rPr lang="en-US"/>
              <a:t>News Articles</a:t>
            </a:r>
            <a:r>
              <a:rPr lang="en-US" dirty="0"/>
              <a:t> Data Frame</a:t>
            </a:r>
            <a:endParaRPr lang="en-US"/>
          </a:p>
        </p:txBody>
      </p:sp>
      <p:sp>
        <p:nvSpPr>
          <p:cNvPr id="3" name="Content Placeholder 2">
            <a:extLst>
              <a:ext uri="{FF2B5EF4-FFF2-40B4-BE49-F238E27FC236}">
                <a16:creationId xmlns:a16="http://schemas.microsoft.com/office/drawing/2014/main" id="{702F862E-F422-F17E-0095-9B02FC8CAF26}"/>
              </a:ext>
            </a:extLst>
          </p:cNvPr>
          <p:cNvSpPr>
            <a:spLocks noGrp="1"/>
          </p:cNvSpPr>
          <p:nvPr>
            <p:ph idx="1"/>
          </p:nvPr>
        </p:nvSpPr>
        <p:spPr>
          <a:xfrm>
            <a:off x="914400" y="1737671"/>
            <a:ext cx="10363200" cy="3382658"/>
          </a:xfrm>
        </p:spPr>
        <p:txBody>
          <a:bodyPr vert="horz" lIns="91440" tIns="45720" rIns="91440" bIns="45720" rtlCol="0" anchor="t">
            <a:normAutofit/>
          </a:bodyPr>
          <a:lstStyle/>
          <a:p>
            <a:pPr marL="0" indent="0">
              <a:buNone/>
            </a:pPr>
            <a:r>
              <a:rPr lang="en-US" sz="1900" b="1" u="sng" dirty="0"/>
              <a:t>Background</a:t>
            </a:r>
          </a:p>
          <a:p>
            <a:r>
              <a:rPr lang="en-US" sz="1900" dirty="0"/>
              <a:t>Our Tesla news article data frame was formed from an RSS feed which feeds into common stock interfaces.</a:t>
            </a:r>
          </a:p>
          <a:p>
            <a:r>
              <a:rPr lang="en-US" sz="1900" dirty="0"/>
              <a:t>Information that was gathered was the titles of Tesla news articles stemming back to 2013.</a:t>
            </a:r>
          </a:p>
          <a:p>
            <a:pPr marL="0" indent="0">
              <a:buNone/>
            </a:pPr>
            <a:r>
              <a:rPr lang="en-US" sz="1900" b="1" u="sng" dirty="0"/>
              <a:t>Goal</a:t>
            </a:r>
            <a:endParaRPr lang="en-US" sz="1900" dirty="0"/>
          </a:p>
          <a:p>
            <a:r>
              <a:rPr lang="en-US" sz="1900" dirty="0"/>
              <a:t>Aggregate all the titles for their corresponding date and merge those with our stock data frame to find possible correlations between article language and stock price movements.</a:t>
            </a:r>
          </a:p>
          <a:p>
            <a:endParaRPr lang="en-US" sz="1900" dirty="0"/>
          </a:p>
        </p:txBody>
      </p:sp>
    </p:spTree>
    <p:extLst>
      <p:ext uri="{BB962C8B-B14F-4D97-AF65-F5344CB8AC3E}">
        <p14:creationId xmlns:p14="http://schemas.microsoft.com/office/powerpoint/2010/main" val="1977901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EDB0B-152B-934F-D570-00ED7E0D754E}"/>
              </a:ext>
            </a:extLst>
          </p:cNvPr>
          <p:cNvSpPr>
            <a:spLocks noGrp="1"/>
          </p:cNvSpPr>
          <p:nvPr>
            <p:ph type="title"/>
          </p:nvPr>
        </p:nvSpPr>
        <p:spPr>
          <a:xfrm>
            <a:off x="914400" y="136525"/>
            <a:ext cx="10363200" cy="1187570"/>
          </a:xfrm>
        </p:spPr>
        <p:txBody>
          <a:bodyPr/>
          <a:lstStyle/>
          <a:p>
            <a:r>
              <a:rPr lang="en-US" dirty="0"/>
              <a:t>Elon Musk’s Tweet DF</a:t>
            </a:r>
          </a:p>
        </p:txBody>
      </p:sp>
      <p:sp>
        <p:nvSpPr>
          <p:cNvPr id="5" name="Footer Placeholder 4">
            <a:extLst>
              <a:ext uri="{FF2B5EF4-FFF2-40B4-BE49-F238E27FC236}">
                <a16:creationId xmlns:a16="http://schemas.microsoft.com/office/drawing/2014/main" id="{F11B67BA-78C6-A9B9-36FF-6E67CF733A7E}"/>
              </a:ext>
            </a:extLst>
          </p:cNvPr>
          <p:cNvSpPr>
            <a:spLocks noGrp="1"/>
          </p:cNvSpPr>
          <p:nvPr>
            <p:ph type="ftr" sz="quarter" idx="11"/>
          </p:nvPr>
        </p:nvSpPr>
        <p:spPr/>
        <p:txBody>
          <a:bodyPr/>
          <a:lstStyle/>
          <a:p>
            <a:r>
              <a:rPr lang="en-US"/>
              <a:t>
              </a:t>
            </a:r>
          </a:p>
        </p:txBody>
      </p:sp>
      <p:sp>
        <p:nvSpPr>
          <p:cNvPr id="7" name="Content Placeholder 2">
            <a:extLst>
              <a:ext uri="{FF2B5EF4-FFF2-40B4-BE49-F238E27FC236}">
                <a16:creationId xmlns:a16="http://schemas.microsoft.com/office/drawing/2014/main" id="{F4066392-55B7-E4B1-69DA-47F416BC457B}"/>
              </a:ext>
            </a:extLst>
          </p:cNvPr>
          <p:cNvSpPr>
            <a:spLocks noGrp="1"/>
          </p:cNvSpPr>
          <p:nvPr>
            <p:ph idx="1"/>
          </p:nvPr>
        </p:nvSpPr>
        <p:spPr>
          <a:xfrm>
            <a:off x="914400" y="1765809"/>
            <a:ext cx="10363200" cy="3382658"/>
          </a:xfrm>
        </p:spPr>
        <p:txBody>
          <a:bodyPr vert="horz" lIns="91440" tIns="45720" rIns="91440" bIns="45720" rtlCol="0" anchor="t">
            <a:normAutofit/>
          </a:bodyPr>
          <a:lstStyle/>
          <a:p>
            <a:pPr marL="0" indent="0">
              <a:buNone/>
            </a:pPr>
            <a:r>
              <a:rPr lang="en-US" sz="1900" b="1" u="sng" dirty="0"/>
              <a:t>Background</a:t>
            </a:r>
          </a:p>
          <a:p>
            <a:r>
              <a:rPr lang="en-US" sz="1900" dirty="0"/>
              <a:t>Elon Musk's tweet data was collected from his official account (@elonmusk) spanning from the very beginning through April 13, 2025.</a:t>
            </a:r>
          </a:p>
          <a:p>
            <a:r>
              <a:rPr lang="en-US" sz="1900" dirty="0"/>
              <a:t>The dataset includes both main tweets and quote tweets, compiled from multiple Kaggle datasets covering different time periods (2010-2025).</a:t>
            </a:r>
          </a:p>
          <a:p>
            <a:pPr marL="0" indent="0">
              <a:buNone/>
            </a:pPr>
            <a:r>
              <a:rPr lang="en-US" sz="1900" b="1" u="sng" dirty="0"/>
              <a:t>Goal</a:t>
            </a:r>
            <a:endParaRPr lang="en-US" sz="1900" dirty="0"/>
          </a:p>
          <a:p>
            <a:r>
              <a:rPr lang="en-US" sz="1900" dirty="0"/>
              <a:t>Merge Musk's tweet data with Tesla stock prices by date to identify whether controversial tweet content correlates with same-day stock price movements.</a:t>
            </a:r>
          </a:p>
          <a:p>
            <a:endParaRPr lang="en-US" sz="1900" dirty="0"/>
          </a:p>
        </p:txBody>
      </p:sp>
    </p:spTree>
    <p:extLst>
      <p:ext uri="{BB962C8B-B14F-4D97-AF65-F5344CB8AC3E}">
        <p14:creationId xmlns:p14="http://schemas.microsoft.com/office/powerpoint/2010/main" val="1509265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D130-4322-3DD9-E697-F147788E69CB}"/>
              </a:ext>
            </a:extLst>
          </p:cNvPr>
          <p:cNvSpPr>
            <a:spLocks noGrp="1"/>
          </p:cNvSpPr>
          <p:nvPr>
            <p:ph type="title"/>
          </p:nvPr>
        </p:nvSpPr>
        <p:spPr>
          <a:xfrm>
            <a:off x="914399" y="136525"/>
            <a:ext cx="10128739" cy="826109"/>
          </a:xfrm>
        </p:spPr>
        <p:txBody>
          <a:bodyPr/>
          <a:lstStyle/>
          <a:p>
            <a:r>
              <a:rPr lang="en-US" dirty="0"/>
              <a:t>Stock Data Frame (Feature Engineering)</a:t>
            </a:r>
          </a:p>
        </p:txBody>
      </p:sp>
      <p:sp>
        <p:nvSpPr>
          <p:cNvPr id="3" name="Content Placeholder 2">
            <a:extLst>
              <a:ext uri="{FF2B5EF4-FFF2-40B4-BE49-F238E27FC236}">
                <a16:creationId xmlns:a16="http://schemas.microsoft.com/office/drawing/2014/main" id="{70124240-BBFD-B697-7A36-DF34F10ED7E1}"/>
              </a:ext>
            </a:extLst>
          </p:cNvPr>
          <p:cNvSpPr>
            <a:spLocks noGrp="1"/>
          </p:cNvSpPr>
          <p:nvPr>
            <p:ph idx="1"/>
          </p:nvPr>
        </p:nvSpPr>
        <p:spPr>
          <a:xfrm>
            <a:off x="914400" y="1968163"/>
            <a:ext cx="10363200" cy="3382658"/>
          </a:xfrm>
        </p:spPr>
        <p:txBody>
          <a:bodyPr vert="horz" lIns="91440" tIns="45720" rIns="91440" bIns="45720" rtlCol="0" anchor="t">
            <a:normAutofit/>
          </a:bodyPr>
          <a:lstStyle/>
          <a:p>
            <a:pPr marL="0" indent="0">
              <a:buNone/>
            </a:pPr>
            <a:r>
              <a:rPr lang="en-US" sz="1900" b="1" u="sng" dirty="0"/>
              <a:t>Problem</a:t>
            </a:r>
          </a:p>
          <a:p>
            <a:r>
              <a:rPr lang="en-US" sz="1900" dirty="0"/>
              <a:t>Share price details give daily price change but lack information on price direction and annual movement.</a:t>
            </a:r>
          </a:p>
          <a:p>
            <a:pPr marL="0" indent="0">
              <a:buNone/>
            </a:pPr>
            <a:r>
              <a:rPr lang="en-US" sz="1900" b="1" u="sng" dirty="0"/>
              <a:t>Solution</a:t>
            </a:r>
          </a:p>
          <a:p>
            <a:r>
              <a:rPr lang="en-US" sz="1900" dirty="0"/>
              <a:t>Create a suite of functions that would aggregate the data for a given date and merge it to our correlating data frame.</a:t>
            </a:r>
          </a:p>
        </p:txBody>
      </p:sp>
      <p:sp>
        <p:nvSpPr>
          <p:cNvPr id="5" name="Footer Placeholder 4">
            <a:extLst>
              <a:ext uri="{FF2B5EF4-FFF2-40B4-BE49-F238E27FC236}">
                <a16:creationId xmlns:a16="http://schemas.microsoft.com/office/drawing/2014/main" id="{51FB0892-3125-7973-EE0F-99B5A650D8C2}"/>
              </a:ext>
            </a:extLst>
          </p:cNvPr>
          <p:cNvSpPr>
            <a:spLocks noGrp="1"/>
          </p:cNvSpPr>
          <p:nvPr>
            <p:ph type="ftr" sz="quarter" idx="11"/>
          </p:nvPr>
        </p:nvSpPr>
        <p:spPr/>
        <p:txBody>
          <a:bodyPr/>
          <a:lstStyle/>
          <a:p>
            <a:r>
              <a:rPr lang="en-US"/>
              <a:t>
              </a:t>
            </a:r>
          </a:p>
        </p:txBody>
      </p:sp>
    </p:spTree>
    <p:extLst>
      <p:ext uri="{BB962C8B-B14F-4D97-AF65-F5344CB8AC3E}">
        <p14:creationId xmlns:p14="http://schemas.microsoft.com/office/powerpoint/2010/main" val="3600891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73EB4-E4A9-CF86-0A92-8171C989C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A62F8-F7F5-30EF-188A-3E674904238E}"/>
              </a:ext>
            </a:extLst>
          </p:cNvPr>
          <p:cNvSpPr>
            <a:spLocks noGrp="1"/>
          </p:cNvSpPr>
          <p:nvPr>
            <p:ph type="title"/>
          </p:nvPr>
        </p:nvSpPr>
        <p:spPr>
          <a:xfrm>
            <a:off x="778597" y="300100"/>
            <a:ext cx="10927533" cy="1187570"/>
          </a:xfrm>
        </p:spPr>
        <p:txBody>
          <a:bodyPr>
            <a:normAutofit/>
          </a:bodyPr>
          <a:lstStyle/>
          <a:p>
            <a:r>
              <a:rPr lang="en-US" dirty="0"/>
              <a:t>News Article Correlation Results (Price Delta) </a:t>
            </a:r>
          </a:p>
        </p:txBody>
      </p:sp>
      <p:sp>
        <p:nvSpPr>
          <p:cNvPr id="3" name="Content Placeholder 2">
            <a:extLst>
              <a:ext uri="{FF2B5EF4-FFF2-40B4-BE49-F238E27FC236}">
                <a16:creationId xmlns:a16="http://schemas.microsoft.com/office/drawing/2014/main" id="{C12480B4-8335-5C50-5B7A-53C47326D1EB}"/>
              </a:ext>
            </a:extLst>
          </p:cNvPr>
          <p:cNvSpPr>
            <a:spLocks noGrp="1"/>
          </p:cNvSpPr>
          <p:nvPr>
            <p:ph idx="1"/>
          </p:nvPr>
        </p:nvSpPr>
        <p:spPr/>
        <p:txBody>
          <a:bodyPr vert="horz" lIns="91440" tIns="45720" rIns="91440" bIns="45720" rtlCol="0" anchor="t">
            <a:normAutofit/>
          </a:bodyPr>
          <a:lstStyle/>
          <a:p>
            <a:pPr marL="0" indent="0">
              <a:buNone/>
            </a:pPr>
            <a:endParaRPr lang="en-US" b="1" u="sng"/>
          </a:p>
          <a:p>
            <a:endParaRPr lang="en-US"/>
          </a:p>
        </p:txBody>
      </p:sp>
      <p:pic>
        <p:nvPicPr>
          <p:cNvPr id="4" name="Picture 3" descr="A bear walking on a graph&#10;&#10;AI-generated content may be incorrect.">
            <a:extLst>
              <a:ext uri="{FF2B5EF4-FFF2-40B4-BE49-F238E27FC236}">
                <a16:creationId xmlns:a16="http://schemas.microsoft.com/office/drawing/2014/main" id="{BC58E4DC-6D7E-02C2-77C2-8DEE56CA3546}"/>
              </a:ext>
            </a:extLst>
          </p:cNvPr>
          <p:cNvPicPr>
            <a:picLocks noChangeAspect="1"/>
          </p:cNvPicPr>
          <p:nvPr/>
        </p:nvPicPr>
        <p:blipFill>
          <a:blip r:embed="rId2"/>
          <a:stretch>
            <a:fillRect/>
          </a:stretch>
        </p:blipFill>
        <p:spPr>
          <a:xfrm>
            <a:off x="2815895" y="4576192"/>
            <a:ext cx="2268009" cy="1693334"/>
          </a:xfrm>
          <a:prstGeom prst="rect">
            <a:avLst/>
          </a:prstGeom>
        </p:spPr>
      </p:pic>
      <p:pic>
        <p:nvPicPr>
          <p:cNvPr id="5" name="Picture 4" descr="A bull with a green arrow&#10;&#10;AI-generated content may be incorrect.">
            <a:extLst>
              <a:ext uri="{FF2B5EF4-FFF2-40B4-BE49-F238E27FC236}">
                <a16:creationId xmlns:a16="http://schemas.microsoft.com/office/drawing/2014/main" id="{A80BAB69-B307-A251-EF2F-0EAC714B93FF}"/>
              </a:ext>
            </a:extLst>
          </p:cNvPr>
          <p:cNvPicPr>
            <a:picLocks noChangeAspect="1"/>
          </p:cNvPicPr>
          <p:nvPr/>
        </p:nvPicPr>
        <p:blipFill>
          <a:blip r:embed="rId3"/>
          <a:stretch>
            <a:fillRect/>
          </a:stretch>
        </p:blipFill>
        <p:spPr>
          <a:xfrm>
            <a:off x="6729611" y="4667207"/>
            <a:ext cx="2325159" cy="160655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46DAC97-CDAC-61E7-FE15-7FA6D242D4FE}"/>
              </a:ext>
            </a:extLst>
          </p:cNvPr>
          <p:cNvPicPr>
            <a:picLocks noChangeAspect="1"/>
          </p:cNvPicPr>
          <p:nvPr/>
        </p:nvPicPr>
        <p:blipFill>
          <a:blip r:embed="rId4"/>
          <a:stretch>
            <a:fillRect/>
          </a:stretch>
        </p:blipFill>
        <p:spPr>
          <a:xfrm>
            <a:off x="2525912" y="1674770"/>
            <a:ext cx="2562225" cy="290300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5E2A3B60-8FEF-A61B-9E8F-1F6B230B9C1E}"/>
              </a:ext>
            </a:extLst>
          </p:cNvPr>
          <p:cNvPicPr>
            <a:picLocks noChangeAspect="1"/>
          </p:cNvPicPr>
          <p:nvPr/>
        </p:nvPicPr>
        <p:blipFill>
          <a:blip r:embed="rId5"/>
          <a:stretch>
            <a:fillRect/>
          </a:stretch>
        </p:blipFill>
        <p:spPr>
          <a:xfrm>
            <a:off x="6606845" y="1674770"/>
            <a:ext cx="2447925" cy="3038475"/>
          </a:xfrm>
          <a:prstGeom prst="rect">
            <a:avLst/>
          </a:prstGeom>
        </p:spPr>
      </p:pic>
    </p:spTree>
    <p:extLst>
      <p:ext uri="{BB962C8B-B14F-4D97-AF65-F5344CB8AC3E}">
        <p14:creationId xmlns:p14="http://schemas.microsoft.com/office/powerpoint/2010/main" val="309269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69968-7732-2AC6-DBC5-ABE80EEFA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0B621-98A7-5006-B7E3-53673BF91C7B}"/>
              </a:ext>
            </a:extLst>
          </p:cNvPr>
          <p:cNvSpPr>
            <a:spLocks noGrp="1"/>
          </p:cNvSpPr>
          <p:nvPr>
            <p:ph type="title"/>
          </p:nvPr>
        </p:nvSpPr>
        <p:spPr>
          <a:xfrm>
            <a:off x="63375" y="175707"/>
            <a:ext cx="12192000" cy="1187570"/>
          </a:xfrm>
        </p:spPr>
        <p:txBody>
          <a:bodyPr>
            <a:noAutofit/>
          </a:bodyPr>
          <a:lstStyle/>
          <a:p>
            <a:r>
              <a:rPr lang="en-US" dirty="0"/>
              <a:t>News Article Correlation Results </a:t>
            </a:r>
            <a:r>
              <a:rPr lang="en-US" sz="3500" dirty="0"/>
              <a:t>(Price Next Day Delta) </a:t>
            </a:r>
          </a:p>
        </p:txBody>
      </p:sp>
      <p:sp>
        <p:nvSpPr>
          <p:cNvPr id="3" name="Content Placeholder 2">
            <a:extLst>
              <a:ext uri="{FF2B5EF4-FFF2-40B4-BE49-F238E27FC236}">
                <a16:creationId xmlns:a16="http://schemas.microsoft.com/office/drawing/2014/main" id="{968A09CB-D22E-E89A-1242-96DDBA916591}"/>
              </a:ext>
            </a:extLst>
          </p:cNvPr>
          <p:cNvSpPr>
            <a:spLocks noGrp="1"/>
          </p:cNvSpPr>
          <p:nvPr>
            <p:ph idx="1"/>
          </p:nvPr>
        </p:nvSpPr>
        <p:spPr/>
        <p:txBody>
          <a:bodyPr vert="horz" lIns="91440" tIns="45720" rIns="91440" bIns="45720" rtlCol="0" anchor="t">
            <a:normAutofit/>
          </a:bodyPr>
          <a:lstStyle/>
          <a:p>
            <a:pPr marL="0" indent="0">
              <a:buNone/>
            </a:pPr>
            <a:endParaRPr lang="en-US" b="1" u="sng" dirty="0"/>
          </a:p>
          <a:p>
            <a:endParaRPr lang="en-US" dirty="0"/>
          </a:p>
        </p:txBody>
      </p:sp>
      <p:pic>
        <p:nvPicPr>
          <p:cNvPr id="4" name="Picture 3" descr="A bear walking on a graph&#10;&#10;AI-generated content may be incorrect.">
            <a:extLst>
              <a:ext uri="{FF2B5EF4-FFF2-40B4-BE49-F238E27FC236}">
                <a16:creationId xmlns:a16="http://schemas.microsoft.com/office/drawing/2014/main" id="{05112673-70D6-3A8E-948B-0C3F4600597D}"/>
              </a:ext>
            </a:extLst>
          </p:cNvPr>
          <p:cNvPicPr>
            <a:picLocks noChangeAspect="1"/>
          </p:cNvPicPr>
          <p:nvPr/>
        </p:nvPicPr>
        <p:blipFill>
          <a:blip r:embed="rId2"/>
          <a:stretch>
            <a:fillRect/>
          </a:stretch>
        </p:blipFill>
        <p:spPr>
          <a:xfrm>
            <a:off x="2779682" y="4558085"/>
            <a:ext cx="2268009" cy="1693334"/>
          </a:xfrm>
          <a:prstGeom prst="rect">
            <a:avLst/>
          </a:prstGeom>
        </p:spPr>
      </p:pic>
      <p:pic>
        <p:nvPicPr>
          <p:cNvPr id="5" name="Picture 4" descr="A bull with a green arrow&#10;&#10;AI-generated content may be incorrect.">
            <a:extLst>
              <a:ext uri="{FF2B5EF4-FFF2-40B4-BE49-F238E27FC236}">
                <a16:creationId xmlns:a16="http://schemas.microsoft.com/office/drawing/2014/main" id="{0B054E8A-654A-3EEE-42FF-87C79BDBD6CB}"/>
              </a:ext>
            </a:extLst>
          </p:cNvPr>
          <p:cNvPicPr>
            <a:picLocks noChangeAspect="1"/>
          </p:cNvPicPr>
          <p:nvPr/>
        </p:nvPicPr>
        <p:blipFill>
          <a:blip r:embed="rId3"/>
          <a:stretch>
            <a:fillRect/>
          </a:stretch>
        </p:blipFill>
        <p:spPr>
          <a:xfrm>
            <a:off x="6693398" y="4649100"/>
            <a:ext cx="2325159" cy="160655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CCADEAF-D69C-AB7F-D6B2-D30699B47D50}"/>
              </a:ext>
            </a:extLst>
          </p:cNvPr>
          <p:cNvPicPr>
            <a:picLocks noChangeAspect="1"/>
          </p:cNvPicPr>
          <p:nvPr/>
        </p:nvPicPr>
        <p:blipFill>
          <a:blip r:embed="rId4"/>
          <a:stretch>
            <a:fillRect/>
          </a:stretch>
        </p:blipFill>
        <p:spPr>
          <a:xfrm>
            <a:off x="6565339" y="1656663"/>
            <a:ext cx="2581275" cy="313372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EAED1516-DA42-2D0C-BC7A-A3973B8481F1}"/>
              </a:ext>
            </a:extLst>
          </p:cNvPr>
          <p:cNvPicPr>
            <a:picLocks noChangeAspect="1"/>
          </p:cNvPicPr>
          <p:nvPr/>
        </p:nvPicPr>
        <p:blipFill>
          <a:blip r:embed="rId5"/>
          <a:stretch>
            <a:fillRect/>
          </a:stretch>
        </p:blipFill>
        <p:spPr>
          <a:xfrm>
            <a:off x="2496049" y="1498443"/>
            <a:ext cx="2551642" cy="3059642"/>
          </a:xfrm>
          <a:prstGeom prst="rect">
            <a:avLst/>
          </a:prstGeom>
        </p:spPr>
      </p:pic>
    </p:spTree>
    <p:extLst>
      <p:ext uri="{BB962C8B-B14F-4D97-AF65-F5344CB8AC3E}">
        <p14:creationId xmlns:p14="http://schemas.microsoft.com/office/powerpoint/2010/main" val="420612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09EAC-D91C-48F2-D8DF-127A7EB1D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182D8-B72A-A84A-0FFF-80F7BFBF2B95}"/>
              </a:ext>
            </a:extLst>
          </p:cNvPr>
          <p:cNvSpPr>
            <a:spLocks noGrp="1"/>
          </p:cNvSpPr>
          <p:nvPr>
            <p:ph type="title"/>
          </p:nvPr>
        </p:nvSpPr>
        <p:spPr>
          <a:xfrm>
            <a:off x="130289" y="298926"/>
            <a:ext cx="11675429" cy="1187492"/>
          </a:xfrm>
        </p:spPr>
        <p:txBody>
          <a:bodyPr>
            <a:noAutofit/>
          </a:bodyPr>
          <a:lstStyle/>
          <a:p>
            <a:r>
              <a:rPr lang="en-US" sz="3400" dirty="0"/>
              <a:t>News Article Correlation Results (Volume Z-Score / Weekly)</a:t>
            </a:r>
          </a:p>
        </p:txBody>
      </p:sp>
      <p:sp>
        <p:nvSpPr>
          <p:cNvPr id="3" name="Content Placeholder 2">
            <a:extLst>
              <a:ext uri="{FF2B5EF4-FFF2-40B4-BE49-F238E27FC236}">
                <a16:creationId xmlns:a16="http://schemas.microsoft.com/office/drawing/2014/main" id="{090A7924-F44C-1672-90AC-62470E59A36A}"/>
              </a:ext>
            </a:extLst>
          </p:cNvPr>
          <p:cNvSpPr>
            <a:spLocks noGrp="1"/>
          </p:cNvSpPr>
          <p:nvPr>
            <p:ph idx="1"/>
          </p:nvPr>
        </p:nvSpPr>
        <p:spPr/>
        <p:txBody>
          <a:bodyPr vert="horz" lIns="91440" tIns="45720" rIns="91440" bIns="45720" rtlCol="0" anchor="t">
            <a:normAutofit/>
          </a:bodyPr>
          <a:lstStyle/>
          <a:p>
            <a:endParaRPr lang="en-US" dirty="0"/>
          </a:p>
          <a:p>
            <a:endParaRPr lang="en-US" dirty="0"/>
          </a:p>
        </p:txBody>
      </p:sp>
      <p:sp>
        <p:nvSpPr>
          <p:cNvPr id="5" name="Content Placeholder 2">
            <a:extLst>
              <a:ext uri="{FF2B5EF4-FFF2-40B4-BE49-F238E27FC236}">
                <a16:creationId xmlns:a16="http://schemas.microsoft.com/office/drawing/2014/main" id="{70091FEE-B4BB-93FB-AD8D-340F87067B55}"/>
              </a:ext>
            </a:extLst>
          </p:cNvPr>
          <p:cNvSpPr txBox="1">
            <a:spLocks/>
          </p:cNvSpPr>
          <p:nvPr/>
        </p:nvSpPr>
        <p:spPr>
          <a:xfrm>
            <a:off x="1066799" y="2711571"/>
            <a:ext cx="10363200" cy="33826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u="sng"/>
          </a:p>
          <a:p>
            <a:endParaRPr lang="en-US"/>
          </a:p>
        </p:txBody>
      </p:sp>
      <p:pic>
        <p:nvPicPr>
          <p:cNvPr id="10" name="Picture 9" descr="A screenshot of a computer&#10;&#10;AI-generated content may be incorrect.">
            <a:extLst>
              <a:ext uri="{FF2B5EF4-FFF2-40B4-BE49-F238E27FC236}">
                <a16:creationId xmlns:a16="http://schemas.microsoft.com/office/drawing/2014/main" id="{AB2DC257-9E4B-A5E9-1B56-F52833216118}"/>
              </a:ext>
            </a:extLst>
          </p:cNvPr>
          <p:cNvPicPr>
            <a:picLocks noChangeAspect="1"/>
          </p:cNvPicPr>
          <p:nvPr/>
        </p:nvPicPr>
        <p:blipFill>
          <a:blip r:embed="rId2"/>
          <a:stretch>
            <a:fillRect/>
          </a:stretch>
        </p:blipFill>
        <p:spPr>
          <a:xfrm>
            <a:off x="2196572" y="3059641"/>
            <a:ext cx="2295525" cy="268605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07A05FC8-AE27-5963-A77D-8B9557891167}"/>
              </a:ext>
            </a:extLst>
          </p:cNvPr>
          <p:cNvPicPr>
            <a:picLocks noChangeAspect="1"/>
          </p:cNvPicPr>
          <p:nvPr/>
        </p:nvPicPr>
        <p:blipFill>
          <a:blip r:embed="rId3"/>
          <a:stretch>
            <a:fillRect/>
          </a:stretch>
        </p:blipFill>
        <p:spPr>
          <a:xfrm>
            <a:off x="6884458" y="2964392"/>
            <a:ext cx="2190750" cy="2876550"/>
          </a:xfrm>
          <a:prstGeom prst="rect">
            <a:avLst/>
          </a:prstGeom>
        </p:spPr>
      </p:pic>
      <p:sp>
        <p:nvSpPr>
          <p:cNvPr id="12" name="TextBox 11">
            <a:extLst>
              <a:ext uri="{FF2B5EF4-FFF2-40B4-BE49-F238E27FC236}">
                <a16:creationId xmlns:a16="http://schemas.microsoft.com/office/drawing/2014/main" id="{5DFE0F5A-859A-F303-0282-A062F3716143}"/>
              </a:ext>
            </a:extLst>
          </p:cNvPr>
          <p:cNvSpPr txBox="1"/>
          <p:nvPr/>
        </p:nvSpPr>
        <p:spPr>
          <a:xfrm>
            <a:off x="2836093" y="2517744"/>
            <a:ext cx="10164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Positive </a:t>
            </a:r>
          </a:p>
        </p:txBody>
      </p:sp>
      <p:sp>
        <p:nvSpPr>
          <p:cNvPr id="14" name="TextBox 13">
            <a:extLst>
              <a:ext uri="{FF2B5EF4-FFF2-40B4-BE49-F238E27FC236}">
                <a16:creationId xmlns:a16="http://schemas.microsoft.com/office/drawing/2014/main" id="{37C4D829-3654-D04F-7759-BB09CE16F496}"/>
              </a:ext>
            </a:extLst>
          </p:cNvPr>
          <p:cNvSpPr txBox="1"/>
          <p:nvPr/>
        </p:nvSpPr>
        <p:spPr>
          <a:xfrm>
            <a:off x="7398083" y="2472222"/>
            <a:ext cx="11634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Negative </a:t>
            </a:r>
          </a:p>
        </p:txBody>
      </p:sp>
    </p:spTree>
    <p:extLst>
      <p:ext uri="{BB962C8B-B14F-4D97-AF65-F5344CB8AC3E}">
        <p14:creationId xmlns:p14="http://schemas.microsoft.com/office/powerpoint/2010/main" val="2694838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8C9D2-21BA-9D7F-6D1F-CA55CAFF923E}"/>
              </a:ext>
            </a:extLst>
          </p:cNvPr>
          <p:cNvSpPr>
            <a:spLocks noGrp="1"/>
          </p:cNvSpPr>
          <p:nvPr>
            <p:ph type="title"/>
          </p:nvPr>
        </p:nvSpPr>
        <p:spPr>
          <a:xfrm>
            <a:off x="851268" y="152208"/>
            <a:ext cx="10363200" cy="1187570"/>
          </a:xfrm>
        </p:spPr>
        <p:txBody>
          <a:bodyPr/>
          <a:lstStyle/>
          <a:p>
            <a:r>
              <a:rPr lang="en-US" dirty="0"/>
              <a:t>Musk Tweet Feature Engineering</a:t>
            </a:r>
          </a:p>
        </p:txBody>
      </p:sp>
      <p:sp>
        <p:nvSpPr>
          <p:cNvPr id="3" name="Content Placeholder 2">
            <a:extLst>
              <a:ext uri="{FF2B5EF4-FFF2-40B4-BE49-F238E27FC236}">
                <a16:creationId xmlns:a16="http://schemas.microsoft.com/office/drawing/2014/main" id="{9CC9383F-FE40-A655-F5BA-8E1EF8753030}"/>
              </a:ext>
            </a:extLst>
          </p:cNvPr>
          <p:cNvSpPr>
            <a:spLocks noGrp="1"/>
          </p:cNvSpPr>
          <p:nvPr>
            <p:ph idx="1"/>
          </p:nvPr>
        </p:nvSpPr>
        <p:spPr>
          <a:xfrm>
            <a:off x="320038" y="1629939"/>
            <a:ext cx="11588102" cy="2152182"/>
          </a:xfrm>
        </p:spPr>
        <p:txBody>
          <a:bodyPr>
            <a:noAutofit/>
          </a:bodyPr>
          <a:lstStyle/>
          <a:p>
            <a:pPr marL="0" indent="0">
              <a:lnSpc>
                <a:spcPct val="100000"/>
              </a:lnSpc>
              <a:buNone/>
            </a:pPr>
            <a:r>
              <a:rPr lang="en-US" b="1" u="sng" dirty="0"/>
              <a:t>Controversial Tweet Classification</a:t>
            </a:r>
          </a:p>
          <a:p>
            <a:pPr>
              <a:lnSpc>
                <a:spcPct val="100000"/>
              </a:lnSpc>
            </a:pPr>
            <a:r>
              <a:rPr lang="en-US" dirty="0"/>
              <a:t>Identify tweets likely to impact investor sentiment by Keyword matching on tweet text</a:t>
            </a:r>
          </a:p>
          <a:p>
            <a:pPr>
              <a:lnSpc>
                <a:spcPct val="100000"/>
              </a:lnSpc>
            </a:pPr>
            <a:r>
              <a:rPr lang="en-US" dirty="0"/>
              <a:t>Keywords include: "funding secured", "stock price”, "profitable", "demand", "coming soon“, and others</a:t>
            </a:r>
          </a:p>
          <a:p>
            <a:pPr>
              <a:lnSpc>
                <a:spcPct val="100000"/>
              </a:lnSpc>
            </a:pPr>
            <a:r>
              <a:rPr lang="en-US" dirty="0"/>
              <a:t>Keywords used were based on known SEC violations and Musk's history of market moving statements</a:t>
            </a:r>
          </a:p>
          <a:p>
            <a:pPr>
              <a:lnSpc>
                <a:spcPct val="100000"/>
              </a:lnSpc>
            </a:pPr>
            <a:endParaRPr lang="en-US" dirty="0"/>
          </a:p>
        </p:txBody>
      </p:sp>
      <p:sp>
        <p:nvSpPr>
          <p:cNvPr id="4" name="TextBox 3">
            <a:extLst>
              <a:ext uri="{FF2B5EF4-FFF2-40B4-BE49-F238E27FC236}">
                <a16:creationId xmlns:a16="http://schemas.microsoft.com/office/drawing/2014/main" id="{0E1293DB-1CAB-E401-869A-228E8188676D}"/>
              </a:ext>
            </a:extLst>
          </p:cNvPr>
          <p:cNvSpPr txBox="1"/>
          <p:nvPr/>
        </p:nvSpPr>
        <p:spPr>
          <a:xfrm>
            <a:off x="1551617" y="4082401"/>
            <a:ext cx="4060426" cy="1323439"/>
          </a:xfrm>
          <a:prstGeom prst="rect">
            <a:avLst/>
          </a:prstGeom>
          <a:noFill/>
        </p:spPr>
        <p:txBody>
          <a:bodyPr wrap="square" rtlCol="0">
            <a:spAutoFit/>
          </a:bodyPr>
          <a:lstStyle/>
          <a:p>
            <a:pPr marL="742950" lvl="1" indent="-285750">
              <a:lnSpc>
                <a:spcPct val="100000"/>
              </a:lnSpc>
              <a:buFontTx/>
              <a:buChar char="-"/>
            </a:pPr>
            <a:r>
              <a:rPr lang="en-US" sz="2000" dirty="0"/>
              <a:t>Stock manipulation</a:t>
            </a:r>
          </a:p>
          <a:p>
            <a:pPr marL="742950" lvl="1" indent="-285750">
              <a:lnSpc>
                <a:spcPct val="100000"/>
              </a:lnSpc>
              <a:buFontTx/>
              <a:buChar char="-"/>
            </a:pPr>
            <a:r>
              <a:rPr lang="en-US" sz="2000" dirty="0"/>
              <a:t>Short seller attacks</a:t>
            </a:r>
          </a:p>
          <a:p>
            <a:pPr marL="742950" lvl="1" indent="-285750">
              <a:lnSpc>
                <a:spcPct val="100000"/>
              </a:lnSpc>
              <a:buFontTx/>
              <a:buChar char="-"/>
            </a:pPr>
            <a:r>
              <a:rPr lang="en-US" sz="2000" dirty="0"/>
              <a:t>Full self driving promises</a:t>
            </a:r>
          </a:p>
          <a:p>
            <a:endParaRPr lang="en-US" sz="2000" dirty="0"/>
          </a:p>
        </p:txBody>
      </p:sp>
      <p:sp>
        <p:nvSpPr>
          <p:cNvPr id="6" name="TextBox 5">
            <a:extLst>
              <a:ext uri="{FF2B5EF4-FFF2-40B4-BE49-F238E27FC236}">
                <a16:creationId xmlns:a16="http://schemas.microsoft.com/office/drawing/2014/main" id="{82ED0EDD-0665-3895-2696-9B0026F2B88E}"/>
              </a:ext>
            </a:extLst>
          </p:cNvPr>
          <p:cNvSpPr txBox="1"/>
          <p:nvPr/>
        </p:nvSpPr>
        <p:spPr>
          <a:xfrm>
            <a:off x="6032868" y="4082401"/>
            <a:ext cx="3151269" cy="1015663"/>
          </a:xfrm>
          <a:prstGeom prst="rect">
            <a:avLst/>
          </a:prstGeom>
          <a:noFill/>
        </p:spPr>
        <p:txBody>
          <a:bodyPr wrap="square">
            <a:spAutoFit/>
          </a:bodyPr>
          <a:lstStyle/>
          <a:p>
            <a:pPr marL="742950" lvl="1" indent="-285750">
              <a:lnSpc>
                <a:spcPct val="100000"/>
              </a:lnSpc>
              <a:buFontTx/>
              <a:buChar char="-"/>
            </a:pPr>
            <a:r>
              <a:rPr lang="en-US" sz="2000" dirty="0"/>
              <a:t>Production hype</a:t>
            </a:r>
          </a:p>
          <a:p>
            <a:pPr marL="742950" lvl="1" indent="-285750">
              <a:lnSpc>
                <a:spcPct val="100000"/>
              </a:lnSpc>
              <a:buFontTx/>
              <a:buChar char="-"/>
            </a:pPr>
            <a:r>
              <a:rPr lang="en-US" sz="2000" dirty="0"/>
              <a:t>Profitability </a:t>
            </a:r>
          </a:p>
          <a:p>
            <a:pPr marL="742950" lvl="1" indent="-285750">
              <a:lnSpc>
                <a:spcPct val="100000"/>
              </a:lnSpc>
              <a:buFontTx/>
              <a:buChar char="-"/>
            </a:pPr>
            <a:r>
              <a:rPr lang="en-US" sz="2000" dirty="0"/>
              <a:t>Hype</a:t>
            </a:r>
          </a:p>
        </p:txBody>
      </p:sp>
    </p:spTree>
    <p:extLst>
      <p:ext uri="{BB962C8B-B14F-4D97-AF65-F5344CB8AC3E}">
        <p14:creationId xmlns:p14="http://schemas.microsoft.com/office/powerpoint/2010/main" val="733229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53DB3-403F-82F8-5E28-04C550B84CFC}"/>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C9EE199C-EF02-AE9D-3B7D-72586248B305}"/>
              </a:ext>
            </a:extLst>
          </p:cNvPr>
          <p:cNvSpPr>
            <a:spLocks noGrp="1"/>
          </p:cNvSpPr>
          <p:nvPr>
            <p:ph idx="1"/>
          </p:nvPr>
        </p:nvSpPr>
        <p:spPr>
          <a:xfrm>
            <a:off x="464819" y="1597052"/>
            <a:ext cx="11262362" cy="4595518"/>
          </a:xfrm>
        </p:spPr>
        <p:txBody>
          <a:bodyPr>
            <a:noAutofit/>
          </a:bodyPr>
          <a:lstStyle/>
          <a:p>
            <a:pPr marL="0" indent="0">
              <a:lnSpc>
                <a:spcPct val="100000"/>
              </a:lnSpc>
              <a:buNone/>
            </a:pPr>
            <a:r>
              <a:rPr lang="en-US" sz="2400" dirty="0"/>
              <a:t>Do controversial tweets move Stock price?</a:t>
            </a:r>
            <a:endParaRPr lang="en-US" sz="1900" b="1" u="sng" dirty="0"/>
          </a:p>
          <a:p>
            <a:pPr marL="0" indent="0">
              <a:lnSpc>
                <a:spcPct val="100000"/>
              </a:lnSpc>
              <a:buNone/>
            </a:pPr>
            <a:r>
              <a:rPr lang="en-US" sz="1900" b="1" u="sng" dirty="0"/>
              <a:t>Analysis Approach:</a:t>
            </a:r>
          </a:p>
          <a:p>
            <a:pPr>
              <a:lnSpc>
                <a:spcPct val="100000"/>
              </a:lnSpc>
            </a:pPr>
            <a:r>
              <a:rPr lang="en-US" sz="1900" dirty="0"/>
              <a:t>Compare “controversial” tweets vs normal tweets on trading days, measuring same day stock returns</a:t>
            </a:r>
          </a:p>
          <a:p>
            <a:pPr>
              <a:lnSpc>
                <a:spcPct val="100000"/>
              </a:lnSpc>
            </a:pPr>
            <a:r>
              <a:rPr lang="en-US" sz="1900" dirty="0"/>
              <a:t>Perform a samples t-test that compares the mean returns between the two groups</a:t>
            </a:r>
          </a:p>
          <a:p>
            <a:pPr>
              <a:lnSpc>
                <a:spcPct val="100000"/>
              </a:lnSpc>
            </a:pPr>
            <a:r>
              <a:rPr lang="en-US" sz="1900" dirty="0"/>
              <a:t>Tests whether the difference is statistically significant or just due to chance</a:t>
            </a:r>
          </a:p>
          <a:p>
            <a:pPr marL="0" indent="0">
              <a:lnSpc>
                <a:spcPct val="100000"/>
              </a:lnSpc>
              <a:buNone/>
            </a:pPr>
            <a:r>
              <a:rPr lang="en-US" sz="1900" b="1" u="sng" dirty="0"/>
              <a:t>Results:</a:t>
            </a:r>
          </a:p>
          <a:p>
            <a:pPr>
              <a:lnSpc>
                <a:spcPct val="100000"/>
              </a:lnSpc>
            </a:pPr>
            <a:r>
              <a:rPr lang="en-US" sz="1900" dirty="0"/>
              <a:t>T-statistic: 1.2 </a:t>
            </a:r>
            <a:r>
              <a:rPr lang="en-US" sz="1900" dirty="0">
                <a:sym typeface="Wingdings" panose="05000000000000000000" pitchFamily="2" charset="2"/>
              </a:rPr>
              <a:t> How many std dev apart are two groups? </a:t>
            </a:r>
            <a:r>
              <a:rPr lang="fr-FR" sz="1900" dirty="0"/>
              <a:t>(t &gt; 2 indicates significant difference)</a:t>
            </a:r>
            <a:endParaRPr lang="en-US" sz="1900" dirty="0"/>
          </a:p>
          <a:p>
            <a:pPr>
              <a:lnSpc>
                <a:spcPct val="100000"/>
              </a:lnSpc>
            </a:pPr>
            <a:r>
              <a:rPr lang="en-US" sz="1900" dirty="0"/>
              <a:t>P-value: .196 </a:t>
            </a:r>
            <a:r>
              <a:rPr lang="en-US" sz="1900" dirty="0">
                <a:sym typeface="Wingdings" panose="05000000000000000000" pitchFamily="2" charset="2"/>
              </a:rPr>
              <a:t> Probability the difference is due to random chance (p &lt; .05 indicates significant)</a:t>
            </a:r>
          </a:p>
          <a:p>
            <a:pPr>
              <a:lnSpc>
                <a:spcPct val="100000"/>
              </a:lnSpc>
            </a:pPr>
            <a:r>
              <a:rPr lang="en-US" sz="1900" dirty="0"/>
              <a:t>Poor statistical evidence that controversial tweets correlate with larger stock movements</a:t>
            </a:r>
          </a:p>
          <a:p>
            <a:pPr>
              <a:lnSpc>
                <a:spcPct val="100000"/>
              </a:lnSpc>
            </a:pPr>
            <a:endParaRPr lang="en-US" sz="1900" dirty="0"/>
          </a:p>
          <a:p>
            <a:pPr>
              <a:lnSpc>
                <a:spcPct val="100000"/>
              </a:lnSpc>
            </a:pPr>
            <a:endParaRPr lang="en-US" sz="1900" dirty="0"/>
          </a:p>
        </p:txBody>
      </p:sp>
      <p:sp>
        <p:nvSpPr>
          <p:cNvPr id="7" name="Title 1">
            <a:extLst>
              <a:ext uri="{FF2B5EF4-FFF2-40B4-BE49-F238E27FC236}">
                <a16:creationId xmlns:a16="http://schemas.microsoft.com/office/drawing/2014/main" id="{92303F9B-3632-AC09-1B78-FEA31BCFC293}"/>
              </a:ext>
            </a:extLst>
          </p:cNvPr>
          <p:cNvSpPr txBox="1">
            <a:spLocks/>
          </p:cNvSpPr>
          <p:nvPr/>
        </p:nvSpPr>
        <p:spPr>
          <a:xfrm>
            <a:off x="642796" y="248970"/>
            <a:ext cx="10363200" cy="118757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dirty="0"/>
              <a:t>Musk Tweets Hypothesis Testing:</a:t>
            </a:r>
          </a:p>
        </p:txBody>
      </p:sp>
    </p:spTree>
    <p:extLst>
      <p:ext uri="{BB962C8B-B14F-4D97-AF65-F5344CB8AC3E}">
        <p14:creationId xmlns:p14="http://schemas.microsoft.com/office/powerpoint/2010/main" val="892897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4CE0-CFDD-4FE8-505A-E12366DDD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64FF5-5DD1-7071-6621-9F13F8BD7D8A}"/>
              </a:ext>
            </a:extLst>
          </p:cNvPr>
          <p:cNvSpPr>
            <a:spLocks noGrp="1"/>
          </p:cNvSpPr>
          <p:nvPr>
            <p:ph type="title"/>
          </p:nvPr>
        </p:nvSpPr>
        <p:spPr>
          <a:xfrm>
            <a:off x="914400" y="212757"/>
            <a:ext cx="10363200" cy="1187570"/>
          </a:xfrm>
        </p:spPr>
        <p:txBody>
          <a:bodyPr/>
          <a:lstStyle/>
          <a:p>
            <a:r>
              <a:rPr lang="en-US" dirty="0"/>
              <a:t>Tweet &amp; Stock Correlation Findings </a:t>
            </a:r>
          </a:p>
        </p:txBody>
      </p:sp>
      <p:sp>
        <p:nvSpPr>
          <p:cNvPr id="3" name="Content Placeholder 2">
            <a:extLst>
              <a:ext uri="{FF2B5EF4-FFF2-40B4-BE49-F238E27FC236}">
                <a16:creationId xmlns:a16="http://schemas.microsoft.com/office/drawing/2014/main" id="{FE71EE60-FB33-CE99-C3A5-9B1FC41D6993}"/>
              </a:ext>
            </a:extLst>
          </p:cNvPr>
          <p:cNvSpPr>
            <a:spLocks noGrp="1"/>
          </p:cNvSpPr>
          <p:nvPr>
            <p:ph idx="1"/>
          </p:nvPr>
        </p:nvSpPr>
        <p:spPr>
          <a:xfrm>
            <a:off x="914400" y="1217765"/>
            <a:ext cx="10363200" cy="3382658"/>
          </a:xfrm>
        </p:spPr>
        <p:txBody>
          <a:bodyPr>
            <a:normAutofit/>
          </a:bodyPr>
          <a:lstStyle/>
          <a:p>
            <a:pPr marL="0" indent="0">
              <a:lnSpc>
                <a:spcPct val="100000"/>
              </a:lnSpc>
              <a:buNone/>
            </a:pPr>
            <a:r>
              <a:rPr lang="en-US" sz="1900" b="1" dirty="0"/>
              <a:t>Research Question:</a:t>
            </a:r>
            <a:r>
              <a:rPr lang="en-US" sz="1900" dirty="0"/>
              <a:t> Do Elon Musk's controversial tweets correlate with same day Tesla stock price movements?</a:t>
            </a:r>
          </a:p>
          <a:p>
            <a:pPr marL="0" indent="0">
              <a:lnSpc>
                <a:spcPct val="100000"/>
              </a:lnSpc>
              <a:buNone/>
            </a:pPr>
            <a:r>
              <a:rPr lang="en-US" sz="1900" b="1" dirty="0"/>
              <a:t>NO</a:t>
            </a:r>
            <a:r>
              <a:rPr lang="en-US" sz="1900" dirty="0"/>
              <a:t> - </a:t>
            </a:r>
            <a:r>
              <a:rPr lang="en-US" sz="1900" u="sng" dirty="0"/>
              <a:t>Controversial tweets do not significantly correlate with larger stock movements</a:t>
            </a:r>
          </a:p>
          <a:p>
            <a:pPr lvl="1">
              <a:lnSpc>
                <a:spcPct val="100000"/>
              </a:lnSpc>
            </a:pPr>
            <a:r>
              <a:rPr lang="en-US" sz="1900" dirty="0"/>
              <a:t>Controversial tweets: </a:t>
            </a:r>
            <a:r>
              <a:rPr lang="en-US" sz="1900" b="1" dirty="0"/>
              <a:t>0.41%</a:t>
            </a:r>
            <a:r>
              <a:rPr lang="en-US" sz="1900" dirty="0"/>
              <a:t> avg same day return</a:t>
            </a:r>
          </a:p>
          <a:p>
            <a:pPr lvl="1">
              <a:lnSpc>
                <a:spcPct val="100000"/>
              </a:lnSpc>
            </a:pPr>
            <a:r>
              <a:rPr lang="en-US" sz="1900" dirty="0"/>
              <a:t>Normal tweets: </a:t>
            </a:r>
            <a:r>
              <a:rPr lang="en-US" sz="1900" b="1" dirty="0"/>
              <a:t>0.19%</a:t>
            </a:r>
            <a:r>
              <a:rPr lang="en-US" sz="1900" dirty="0"/>
              <a:t> avg same day return</a:t>
            </a:r>
          </a:p>
          <a:p>
            <a:pPr lvl="1">
              <a:lnSpc>
                <a:spcPct val="100000"/>
              </a:lnSpc>
            </a:pPr>
            <a:r>
              <a:rPr lang="en-US" sz="1900" dirty="0"/>
              <a:t>2.1x larger stock movements on controversial tweet days</a:t>
            </a:r>
          </a:p>
        </p:txBody>
      </p:sp>
      <p:pic>
        <p:nvPicPr>
          <p:cNvPr id="5" name="Picture 4">
            <a:extLst>
              <a:ext uri="{FF2B5EF4-FFF2-40B4-BE49-F238E27FC236}">
                <a16:creationId xmlns:a16="http://schemas.microsoft.com/office/drawing/2014/main" id="{0A3DE08C-5B23-DFEB-BB63-53D2FA2559C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0556" y="3550264"/>
            <a:ext cx="8690887" cy="3068108"/>
          </a:xfrm>
          <a:prstGeom prst="rect">
            <a:avLst/>
          </a:prstGeom>
          <a:ln w="19050">
            <a:solidFill>
              <a:schemeClr val="tx1"/>
            </a:solidFill>
          </a:ln>
        </p:spPr>
      </p:pic>
    </p:spTree>
    <p:extLst>
      <p:ext uri="{BB962C8B-B14F-4D97-AF65-F5344CB8AC3E}">
        <p14:creationId xmlns:p14="http://schemas.microsoft.com/office/powerpoint/2010/main" val="3106392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21EE-8E3B-275F-23A5-E84F79E37655}"/>
              </a:ext>
            </a:extLst>
          </p:cNvPr>
          <p:cNvSpPr>
            <a:spLocks noGrp="1"/>
          </p:cNvSpPr>
          <p:nvPr>
            <p:ph type="title"/>
          </p:nvPr>
        </p:nvSpPr>
        <p:spPr>
          <a:xfrm>
            <a:off x="914399" y="1209248"/>
            <a:ext cx="10363200" cy="1187570"/>
          </a:xfrm>
        </p:spPr>
        <p:txBody>
          <a:bodyPr>
            <a:normAutofit fontScale="90000"/>
          </a:bodyPr>
          <a:lstStyle/>
          <a:p>
            <a:r>
              <a:rPr lang="en-US" sz="2400" b="1" dirty="0"/>
              <a:t>Goal: Categorize news events by sentiment and analyze how they affect stock insights (Samuel Constante) as well how they affect stock insights combined with controversial tweets from Elon’s Twitter account (Patrick Elles)</a:t>
            </a:r>
          </a:p>
        </p:txBody>
      </p:sp>
      <p:sp>
        <p:nvSpPr>
          <p:cNvPr id="3" name="Content Placeholder 2">
            <a:extLst>
              <a:ext uri="{FF2B5EF4-FFF2-40B4-BE49-F238E27FC236}">
                <a16:creationId xmlns:a16="http://schemas.microsoft.com/office/drawing/2014/main" id="{E6D65AA1-D524-F446-23DF-C21A98D68599}"/>
              </a:ext>
            </a:extLst>
          </p:cNvPr>
          <p:cNvSpPr>
            <a:spLocks noGrp="1"/>
          </p:cNvSpPr>
          <p:nvPr>
            <p:ph idx="1"/>
          </p:nvPr>
        </p:nvSpPr>
        <p:spPr>
          <a:xfrm>
            <a:off x="912628" y="2418189"/>
            <a:ext cx="10363200" cy="3382658"/>
          </a:xfrm>
        </p:spPr>
        <p:txBody>
          <a:bodyPr vert="horz" lIns="91440" tIns="45720" rIns="91440" bIns="45720" rtlCol="0" anchor="t">
            <a:normAutofit/>
          </a:bodyPr>
          <a:lstStyle/>
          <a:p>
            <a:r>
              <a:rPr lang="en-US" dirty="0"/>
              <a:t>The stock/news titles data frame and the newly merged stock/tweet/news title data frames were analyzed by a sentiment machine learning model. (</a:t>
            </a:r>
            <a:r>
              <a:rPr lang="en-US" dirty="0" err="1">
                <a:solidFill>
                  <a:srgbClr val="000000"/>
                </a:solidFill>
                <a:ea typeface="+mn-lt"/>
                <a:cs typeface="+mn-lt"/>
              </a:rPr>
              <a:t>siebert</a:t>
            </a:r>
            <a:r>
              <a:rPr lang="en-US" dirty="0">
                <a:solidFill>
                  <a:srgbClr val="000000"/>
                </a:solidFill>
                <a:ea typeface="+mn-lt"/>
                <a:cs typeface="+mn-lt"/>
              </a:rPr>
              <a:t>/sentiment-</a:t>
            </a:r>
            <a:r>
              <a:rPr lang="en-US" dirty="0" err="1">
                <a:solidFill>
                  <a:srgbClr val="000000"/>
                </a:solidFill>
                <a:ea typeface="+mn-lt"/>
                <a:cs typeface="+mn-lt"/>
              </a:rPr>
              <a:t>RoBERTa</a:t>
            </a:r>
            <a:r>
              <a:rPr lang="en-US" dirty="0">
                <a:solidFill>
                  <a:srgbClr val="000000"/>
                </a:solidFill>
                <a:ea typeface="+mn-lt"/>
                <a:cs typeface="+mn-lt"/>
              </a:rPr>
              <a:t>-large-</a:t>
            </a:r>
            <a:r>
              <a:rPr lang="en-US" dirty="0" err="1">
                <a:solidFill>
                  <a:srgbClr val="000000"/>
                </a:solidFill>
                <a:ea typeface="+mn-lt"/>
                <a:cs typeface="+mn-lt"/>
              </a:rPr>
              <a:t>english</a:t>
            </a:r>
            <a:r>
              <a:rPr lang="en-US" dirty="0">
                <a:solidFill>
                  <a:srgbClr val="000000"/>
                </a:solidFill>
                <a:ea typeface="+mn-lt"/>
                <a:cs typeface="+mn-lt"/>
              </a:rPr>
              <a:t>)</a:t>
            </a:r>
          </a:p>
          <a:p>
            <a:r>
              <a:rPr lang="en-US" dirty="0"/>
              <a:t>All titles and dates were given their own row set in this process to gather more meaningful insights.</a:t>
            </a:r>
          </a:p>
          <a:p>
            <a:r>
              <a:rPr lang="en-US" dirty="0"/>
              <a:t>Data was aggregated to consider days where there were multiple articles and/or tweets, so results weren’t skewed</a:t>
            </a:r>
          </a:p>
          <a:p>
            <a:endParaRPr lang="en-US" dirty="0"/>
          </a:p>
        </p:txBody>
      </p:sp>
      <p:sp>
        <p:nvSpPr>
          <p:cNvPr id="5" name="Footer Placeholder 4">
            <a:extLst>
              <a:ext uri="{FF2B5EF4-FFF2-40B4-BE49-F238E27FC236}">
                <a16:creationId xmlns:a16="http://schemas.microsoft.com/office/drawing/2014/main" id="{1052DE0F-8A6C-55AE-D6E8-44565C90D22E}"/>
              </a:ext>
            </a:extLst>
          </p:cNvPr>
          <p:cNvSpPr>
            <a:spLocks noGrp="1"/>
          </p:cNvSpPr>
          <p:nvPr>
            <p:ph type="ftr" sz="quarter" idx="11"/>
          </p:nvPr>
        </p:nvSpPr>
        <p:spPr/>
        <p:txBody>
          <a:bodyPr/>
          <a:lstStyle/>
          <a:p>
            <a:r>
              <a:rPr lang="en-US"/>
              <a:t>
              </a:t>
            </a:r>
          </a:p>
        </p:txBody>
      </p:sp>
      <p:pic>
        <p:nvPicPr>
          <p:cNvPr id="7" name="Picture 6" descr="A black and white text&#10;&#10;AI-generated content may be incorrect.">
            <a:extLst>
              <a:ext uri="{FF2B5EF4-FFF2-40B4-BE49-F238E27FC236}">
                <a16:creationId xmlns:a16="http://schemas.microsoft.com/office/drawing/2014/main" id="{E6196C9D-B8BB-36DE-1E7B-194E4422DE61}"/>
              </a:ext>
            </a:extLst>
          </p:cNvPr>
          <p:cNvPicPr>
            <a:picLocks noChangeAspect="1"/>
          </p:cNvPicPr>
          <p:nvPr/>
        </p:nvPicPr>
        <p:blipFill>
          <a:blip r:embed="rId2"/>
          <a:stretch>
            <a:fillRect/>
          </a:stretch>
        </p:blipFill>
        <p:spPr>
          <a:xfrm>
            <a:off x="88715" y="5927879"/>
            <a:ext cx="12011025" cy="542925"/>
          </a:xfrm>
          <a:prstGeom prst="rect">
            <a:avLst/>
          </a:prstGeom>
        </p:spPr>
      </p:pic>
      <p:sp>
        <p:nvSpPr>
          <p:cNvPr id="8" name="Title 1">
            <a:extLst>
              <a:ext uri="{FF2B5EF4-FFF2-40B4-BE49-F238E27FC236}">
                <a16:creationId xmlns:a16="http://schemas.microsoft.com/office/drawing/2014/main" id="{B6D383BB-62E7-6890-3F7E-8E22538B8C96}"/>
              </a:ext>
            </a:extLst>
          </p:cNvPr>
          <p:cNvSpPr txBox="1">
            <a:spLocks/>
          </p:cNvSpPr>
          <p:nvPr/>
        </p:nvSpPr>
        <p:spPr>
          <a:xfrm>
            <a:off x="914400" y="212757"/>
            <a:ext cx="10363200" cy="118757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dirty="0"/>
              <a:t>Final Project Phase 2</a:t>
            </a:r>
          </a:p>
        </p:txBody>
      </p:sp>
    </p:spTree>
    <p:extLst>
      <p:ext uri="{BB962C8B-B14F-4D97-AF65-F5344CB8AC3E}">
        <p14:creationId xmlns:p14="http://schemas.microsoft.com/office/powerpoint/2010/main" val="4032554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430D9-6E36-6D90-63DB-7467FBFD3600}"/>
              </a:ext>
            </a:extLst>
          </p:cNvPr>
          <p:cNvSpPr>
            <a:spLocks noGrp="1"/>
          </p:cNvSpPr>
          <p:nvPr>
            <p:ph type="title"/>
          </p:nvPr>
        </p:nvSpPr>
        <p:spPr>
          <a:xfrm>
            <a:off x="914400" y="248139"/>
            <a:ext cx="10363200" cy="1187570"/>
          </a:xfrm>
        </p:spPr>
        <p:txBody>
          <a:bodyPr>
            <a:normAutofit fontScale="90000"/>
          </a:bodyPr>
          <a:lstStyle/>
          <a:p>
            <a:r>
              <a:rPr lang="en-US" dirty="0"/>
              <a:t>Phase 2: Insights ( Stock Delta / News Sentiment )</a:t>
            </a:r>
          </a:p>
        </p:txBody>
      </p:sp>
      <p:sp>
        <p:nvSpPr>
          <p:cNvPr id="3" name="Content Placeholder 2">
            <a:extLst>
              <a:ext uri="{FF2B5EF4-FFF2-40B4-BE49-F238E27FC236}">
                <a16:creationId xmlns:a16="http://schemas.microsoft.com/office/drawing/2014/main" id="{550B55FA-1ADF-C614-DACA-C30195C33236}"/>
              </a:ext>
            </a:extLst>
          </p:cNvPr>
          <p:cNvSpPr>
            <a:spLocks noGrp="1"/>
          </p:cNvSpPr>
          <p:nvPr>
            <p:ph idx="1"/>
          </p:nvPr>
        </p:nvSpPr>
        <p:spPr>
          <a:xfrm>
            <a:off x="914399" y="1328248"/>
            <a:ext cx="10363200" cy="3382658"/>
          </a:xfrm>
        </p:spPr>
        <p:txBody>
          <a:bodyPr vert="horz" lIns="91440" tIns="45720" rIns="91440" bIns="45720" rtlCol="0" anchor="t">
            <a:normAutofit/>
          </a:bodyPr>
          <a:lstStyle/>
          <a:p>
            <a:r>
              <a:rPr lang="en-US" dirty="0"/>
              <a:t>Insights from our sample dataset show that negative news titles have a higher effect on daily price change, weekly volume trade, and weekly price volatility.</a:t>
            </a:r>
          </a:p>
          <a:p>
            <a:r>
              <a:rPr lang="en-US" dirty="0"/>
              <a:t>Negative news is more impactful on the health of </a:t>
            </a:r>
            <a:r>
              <a:rPr lang="en-US"/>
              <a:t>Tesla</a:t>
            </a:r>
            <a:r>
              <a:rPr lang="en-US" dirty="0"/>
              <a:t> stock then positive.</a:t>
            </a:r>
          </a:p>
          <a:p>
            <a:endParaRPr lang="en-US" dirty="0"/>
          </a:p>
        </p:txBody>
      </p:sp>
      <p:sp>
        <p:nvSpPr>
          <p:cNvPr id="5" name="Footer Placeholder 4">
            <a:extLst>
              <a:ext uri="{FF2B5EF4-FFF2-40B4-BE49-F238E27FC236}">
                <a16:creationId xmlns:a16="http://schemas.microsoft.com/office/drawing/2014/main" id="{90FCE508-C7E9-341E-A89F-E6FE1DB47988}"/>
              </a:ext>
            </a:extLst>
          </p:cNvPr>
          <p:cNvSpPr>
            <a:spLocks noGrp="1"/>
          </p:cNvSpPr>
          <p:nvPr>
            <p:ph type="ftr" sz="quarter" idx="11"/>
          </p:nvPr>
        </p:nvSpPr>
        <p:spPr/>
        <p:txBody>
          <a:bodyPr/>
          <a:lstStyle/>
          <a:p>
            <a:r>
              <a:rPr lang="en-US"/>
              <a:t>
              </a:t>
            </a:r>
          </a:p>
        </p:txBody>
      </p:sp>
      <p:pic>
        <p:nvPicPr>
          <p:cNvPr id="10" name="Picture 9" descr="A screenshot of a graph&#10;&#10;AI-generated content may be incorrect.">
            <a:extLst>
              <a:ext uri="{FF2B5EF4-FFF2-40B4-BE49-F238E27FC236}">
                <a16:creationId xmlns:a16="http://schemas.microsoft.com/office/drawing/2014/main" id="{A8F0EEB4-B703-7BCC-1C5A-0855158C39DC}"/>
              </a:ext>
            </a:extLst>
          </p:cNvPr>
          <p:cNvPicPr>
            <a:picLocks noChangeAspect="1"/>
          </p:cNvPicPr>
          <p:nvPr/>
        </p:nvPicPr>
        <p:blipFill>
          <a:blip r:embed="rId2"/>
          <a:stretch>
            <a:fillRect/>
          </a:stretch>
        </p:blipFill>
        <p:spPr>
          <a:xfrm>
            <a:off x="3123223" y="3005504"/>
            <a:ext cx="5105400" cy="3543300"/>
          </a:xfrm>
          <a:prstGeom prst="rect">
            <a:avLst/>
          </a:prstGeom>
        </p:spPr>
      </p:pic>
    </p:spTree>
    <p:extLst>
      <p:ext uri="{BB962C8B-B14F-4D97-AF65-F5344CB8AC3E}">
        <p14:creationId xmlns:p14="http://schemas.microsoft.com/office/powerpoint/2010/main" val="2524957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3067F-0614-4899-90D6-49A93A715F5F}"/>
              </a:ext>
            </a:extLst>
          </p:cNvPr>
          <p:cNvSpPr>
            <a:spLocks noGrp="1"/>
          </p:cNvSpPr>
          <p:nvPr>
            <p:ph type="title"/>
          </p:nvPr>
        </p:nvSpPr>
        <p:spPr>
          <a:xfrm>
            <a:off x="914400" y="223523"/>
            <a:ext cx="10363200" cy="1187570"/>
          </a:xfrm>
        </p:spPr>
        <p:txBody>
          <a:bodyPr/>
          <a:lstStyle/>
          <a:p>
            <a:r>
              <a:rPr lang="en-US" dirty="0"/>
              <a:t>Phase 2: Insights (News Sentiment Trends)</a:t>
            </a:r>
          </a:p>
        </p:txBody>
      </p:sp>
      <p:pic>
        <p:nvPicPr>
          <p:cNvPr id="7" name="Content Placeholder 6">
            <a:extLst>
              <a:ext uri="{FF2B5EF4-FFF2-40B4-BE49-F238E27FC236}">
                <a16:creationId xmlns:a16="http://schemas.microsoft.com/office/drawing/2014/main" id="{6D6BED94-6C7C-6A95-8B5D-2A1E2FD037A0}"/>
              </a:ext>
            </a:extLst>
          </p:cNvPr>
          <p:cNvPicPr>
            <a:picLocks noGrp="1" noChangeAspect="1"/>
          </p:cNvPicPr>
          <p:nvPr>
            <p:ph idx="1"/>
          </p:nvPr>
        </p:nvPicPr>
        <p:blipFill>
          <a:blip r:embed="rId2"/>
          <a:stretch>
            <a:fillRect/>
          </a:stretch>
        </p:blipFill>
        <p:spPr>
          <a:xfrm>
            <a:off x="6245688" y="3150339"/>
            <a:ext cx="4399621" cy="3509658"/>
          </a:xfrm>
          <a:prstGeom prst="rect">
            <a:avLst/>
          </a:prstGeom>
        </p:spPr>
      </p:pic>
      <p:sp>
        <p:nvSpPr>
          <p:cNvPr id="5" name="Footer Placeholder 4">
            <a:extLst>
              <a:ext uri="{FF2B5EF4-FFF2-40B4-BE49-F238E27FC236}">
                <a16:creationId xmlns:a16="http://schemas.microsoft.com/office/drawing/2014/main" id="{409D81B5-896F-B19B-9094-635E13FDAFD6}"/>
              </a:ext>
            </a:extLst>
          </p:cNvPr>
          <p:cNvSpPr>
            <a:spLocks noGrp="1"/>
          </p:cNvSpPr>
          <p:nvPr>
            <p:ph type="ftr" sz="quarter" idx="11"/>
          </p:nvPr>
        </p:nvSpPr>
        <p:spPr/>
        <p:txBody>
          <a:bodyPr/>
          <a:lstStyle/>
          <a:p>
            <a:r>
              <a:rPr lang="en-US"/>
              <a:t>
              </a:t>
            </a:r>
          </a:p>
        </p:txBody>
      </p:sp>
      <p:pic>
        <p:nvPicPr>
          <p:cNvPr id="8" name="Picture 7" descr="A graph of positive and negative&#10;&#10;AI-generated content may be incorrect.">
            <a:extLst>
              <a:ext uri="{FF2B5EF4-FFF2-40B4-BE49-F238E27FC236}">
                <a16:creationId xmlns:a16="http://schemas.microsoft.com/office/drawing/2014/main" id="{B29F970A-A708-CB5C-0C0B-A6F94B2CFC2B}"/>
              </a:ext>
            </a:extLst>
          </p:cNvPr>
          <p:cNvPicPr>
            <a:picLocks noChangeAspect="1"/>
          </p:cNvPicPr>
          <p:nvPr/>
        </p:nvPicPr>
        <p:blipFill>
          <a:blip r:embed="rId3"/>
          <a:stretch>
            <a:fillRect/>
          </a:stretch>
        </p:blipFill>
        <p:spPr>
          <a:xfrm>
            <a:off x="945996" y="3109705"/>
            <a:ext cx="5038725" cy="3590925"/>
          </a:xfrm>
          <a:prstGeom prst="rect">
            <a:avLst/>
          </a:prstGeom>
        </p:spPr>
      </p:pic>
      <p:sp>
        <p:nvSpPr>
          <p:cNvPr id="10" name="TextBox 9">
            <a:extLst>
              <a:ext uri="{FF2B5EF4-FFF2-40B4-BE49-F238E27FC236}">
                <a16:creationId xmlns:a16="http://schemas.microsoft.com/office/drawing/2014/main" id="{7AE6F5DB-7936-D361-824B-1B820C6B467F}"/>
              </a:ext>
            </a:extLst>
          </p:cNvPr>
          <p:cNvSpPr txBox="1"/>
          <p:nvPr/>
        </p:nvSpPr>
        <p:spPr>
          <a:xfrm>
            <a:off x="1151463" y="1411093"/>
            <a:ext cx="82139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Tesla has more positive sentiment; however, the negative sentiment is more impactful.</a:t>
            </a:r>
          </a:p>
        </p:txBody>
      </p:sp>
    </p:spTree>
    <p:extLst>
      <p:ext uri="{BB962C8B-B14F-4D97-AF65-F5344CB8AC3E}">
        <p14:creationId xmlns:p14="http://schemas.microsoft.com/office/powerpoint/2010/main" val="482418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D73E2A-5549-7518-3154-285974CC9A7A}"/>
              </a:ext>
            </a:extLst>
          </p:cNvPr>
          <p:cNvSpPr>
            <a:spLocks noGrp="1"/>
          </p:cNvSpPr>
          <p:nvPr>
            <p:ph type="ftr" sz="quarter" idx="11"/>
          </p:nvPr>
        </p:nvSpPr>
        <p:spPr/>
        <p:txBody>
          <a:bodyPr/>
          <a:lstStyle/>
          <a:p>
            <a:r>
              <a:rPr lang="en-US"/>
              <a:t>
              </a:t>
            </a:r>
          </a:p>
        </p:txBody>
      </p:sp>
      <p:pic>
        <p:nvPicPr>
          <p:cNvPr id="8" name="Picture 7">
            <a:extLst>
              <a:ext uri="{FF2B5EF4-FFF2-40B4-BE49-F238E27FC236}">
                <a16:creationId xmlns:a16="http://schemas.microsoft.com/office/drawing/2014/main" id="{193C4BDE-10EA-D721-3A8E-81349B922575}"/>
              </a:ext>
            </a:extLst>
          </p:cNvPr>
          <p:cNvPicPr>
            <a:picLocks noChangeAspect="1"/>
          </p:cNvPicPr>
          <p:nvPr/>
        </p:nvPicPr>
        <p:blipFill>
          <a:blip r:embed="rId2"/>
          <a:stretch>
            <a:fillRect/>
          </a:stretch>
        </p:blipFill>
        <p:spPr>
          <a:xfrm>
            <a:off x="8222713" y="1086462"/>
            <a:ext cx="3959325" cy="1976422"/>
          </a:xfrm>
          <a:prstGeom prst="rect">
            <a:avLst/>
          </a:prstGeom>
        </p:spPr>
      </p:pic>
      <p:pic>
        <p:nvPicPr>
          <p:cNvPr id="10" name="Picture 9">
            <a:extLst>
              <a:ext uri="{FF2B5EF4-FFF2-40B4-BE49-F238E27FC236}">
                <a16:creationId xmlns:a16="http://schemas.microsoft.com/office/drawing/2014/main" id="{C09721A3-1F01-1C2C-6826-6C39EA38FB43}"/>
              </a:ext>
            </a:extLst>
          </p:cNvPr>
          <p:cNvPicPr>
            <a:picLocks noChangeAspect="1"/>
          </p:cNvPicPr>
          <p:nvPr/>
        </p:nvPicPr>
        <p:blipFill>
          <a:blip r:embed="rId3"/>
          <a:stretch>
            <a:fillRect/>
          </a:stretch>
        </p:blipFill>
        <p:spPr>
          <a:xfrm>
            <a:off x="8222713" y="3259899"/>
            <a:ext cx="3949363" cy="2068714"/>
          </a:xfrm>
          <a:prstGeom prst="rect">
            <a:avLst/>
          </a:prstGeom>
        </p:spPr>
      </p:pic>
      <p:pic>
        <p:nvPicPr>
          <p:cNvPr id="12" name="Picture 11">
            <a:extLst>
              <a:ext uri="{FF2B5EF4-FFF2-40B4-BE49-F238E27FC236}">
                <a16:creationId xmlns:a16="http://schemas.microsoft.com/office/drawing/2014/main" id="{62FF1F61-A0F6-7B20-40D4-32080B3E9F03}"/>
              </a:ext>
            </a:extLst>
          </p:cNvPr>
          <p:cNvPicPr>
            <a:picLocks noChangeAspect="1"/>
          </p:cNvPicPr>
          <p:nvPr/>
        </p:nvPicPr>
        <p:blipFill>
          <a:blip r:embed="rId4"/>
          <a:stretch>
            <a:fillRect/>
          </a:stretch>
        </p:blipFill>
        <p:spPr>
          <a:xfrm>
            <a:off x="8222713" y="5577113"/>
            <a:ext cx="3981189" cy="886719"/>
          </a:xfrm>
          <a:prstGeom prst="rect">
            <a:avLst/>
          </a:prstGeom>
        </p:spPr>
      </p:pic>
      <p:sp>
        <p:nvSpPr>
          <p:cNvPr id="13" name="Title 1">
            <a:extLst>
              <a:ext uri="{FF2B5EF4-FFF2-40B4-BE49-F238E27FC236}">
                <a16:creationId xmlns:a16="http://schemas.microsoft.com/office/drawing/2014/main" id="{2AA494CE-BF4D-6134-1A32-9EBE1C91EA69}"/>
              </a:ext>
            </a:extLst>
          </p:cNvPr>
          <p:cNvSpPr>
            <a:spLocks noGrp="1"/>
          </p:cNvSpPr>
          <p:nvPr>
            <p:ph type="title"/>
          </p:nvPr>
        </p:nvSpPr>
        <p:spPr>
          <a:xfrm>
            <a:off x="271603" y="223523"/>
            <a:ext cx="11669917" cy="1187570"/>
          </a:xfrm>
        </p:spPr>
        <p:txBody>
          <a:bodyPr>
            <a:normAutofit fontScale="90000"/>
          </a:bodyPr>
          <a:lstStyle/>
          <a:p>
            <a:r>
              <a:rPr lang="en-US" dirty="0"/>
              <a:t>Phase 2: Insights (Stock Delta/ News Sentiment/ Tweets)</a:t>
            </a:r>
          </a:p>
        </p:txBody>
      </p:sp>
      <p:sp>
        <p:nvSpPr>
          <p:cNvPr id="16" name="Rectangle 2">
            <a:extLst>
              <a:ext uri="{FF2B5EF4-FFF2-40B4-BE49-F238E27FC236}">
                <a16:creationId xmlns:a16="http://schemas.microsoft.com/office/drawing/2014/main" id="{3E522CAC-3B24-3710-71B9-23382A810686}"/>
              </a:ext>
            </a:extLst>
          </p:cNvPr>
          <p:cNvSpPr>
            <a:spLocks noChangeArrowheads="1"/>
          </p:cNvSpPr>
          <p:nvPr/>
        </p:nvSpPr>
        <p:spPr bwMode="auto">
          <a:xfrm>
            <a:off x="201342" y="1551563"/>
            <a:ext cx="7771799"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Controversial tweet days with positive returns showed moderately positive sentiment (0.545), while negative return days showed slightly less positive sentiment (0.497)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Weak correlations (0.099 and 0.082) indicate sentiment has minimal predictive power for stock direction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9 out of 10 worst crash days still featured positive headlines, which could be because news articles still have an optimistic tone regardless of stock performance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Only 1 crash day (3/10/25: -15.4%) showed negative sentiment, demonstrating financial media's consistently positive framing about Tesla </a:t>
            </a:r>
          </a:p>
        </p:txBody>
      </p:sp>
    </p:spTree>
    <p:extLst>
      <p:ext uri="{BB962C8B-B14F-4D97-AF65-F5344CB8AC3E}">
        <p14:creationId xmlns:p14="http://schemas.microsoft.com/office/powerpoint/2010/main" val="3364675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4AC34BA-D2F9-5C18-21E1-3C4CC83A4DED}"/>
              </a:ext>
            </a:extLst>
          </p:cNvPr>
          <p:cNvSpPr>
            <a:spLocks noGrp="1"/>
          </p:cNvSpPr>
          <p:nvPr>
            <p:ph type="ftr" sz="quarter" idx="11"/>
          </p:nvPr>
        </p:nvSpPr>
        <p:spPr/>
        <p:txBody>
          <a:bodyPr/>
          <a:lstStyle/>
          <a:p>
            <a:r>
              <a:rPr lang="en-US"/>
              <a:t>
              </a:t>
            </a:r>
          </a:p>
        </p:txBody>
      </p:sp>
      <p:pic>
        <p:nvPicPr>
          <p:cNvPr id="8" name="Picture 7">
            <a:extLst>
              <a:ext uri="{FF2B5EF4-FFF2-40B4-BE49-F238E27FC236}">
                <a16:creationId xmlns:a16="http://schemas.microsoft.com/office/drawing/2014/main" id="{FC0719FE-0A80-102B-4B2E-BF64D2A7D033}"/>
              </a:ext>
            </a:extLst>
          </p:cNvPr>
          <p:cNvPicPr>
            <a:picLocks noChangeAspect="1"/>
          </p:cNvPicPr>
          <p:nvPr/>
        </p:nvPicPr>
        <p:blipFill>
          <a:blip r:embed="rId2"/>
          <a:stretch>
            <a:fillRect/>
          </a:stretch>
        </p:blipFill>
        <p:spPr>
          <a:xfrm>
            <a:off x="6354240" y="1435100"/>
            <a:ext cx="5448080" cy="4112020"/>
          </a:xfrm>
          <a:prstGeom prst="rect">
            <a:avLst/>
          </a:prstGeom>
        </p:spPr>
      </p:pic>
      <p:sp>
        <p:nvSpPr>
          <p:cNvPr id="9" name="Title 1">
            <a:extLst>
              <a:ext uri="{FF2B5EF4-FFF2-40B4-BE49-F238E27FC236}">
                <a16:creationId xmlns:a16="http://schemas.microsoft.com/office/drawing/2014/main" id="{E98A89AE-C68C-12E2-DE54-01DE28711177}"/>
              </a:ext>
            </a:extLst>
          </p:cNvPr>
          <p:cNvSpPr>
            <a:spLocks noGrp="1"/>
          </p:cNvSpPr>
          <p:nvPr>
            <p:ph type="title"/>
          </p:nvPr>
        </p:nvSpPr>
        <p:spPr>
          <a:xfrm>
            <a:off x="271603" y="223523"/>
            <a:ext cx="11669917" cy="1187570"/>
          </a:xfrm>
        </p:spPr>
        <p:txBody>
          <a:bodyPr>
            <a:normAutofit fontScale="90000"/>
          </a:bodyPr>
          <a:lstStyle/>
          <a:p>
            <a:r>
              <a:rPr lang="en-US" dirty="0"/>
              <a:t>Phase 2: Insights (Stock Delta/ News Sentiment/ Tweets)</a:t>
            </a:r>
          </a:p>
        </p:txBody>
      </p:sp>
      <p:sp>
        <p:nvSpPr>
          <p:cNvPr id="10" name="Rectangle 2">
            <a:extLst>
              <a:ext uri="{FF2B5EF4-FFF2-40B4-BE49-F238E27FC236}">
                <a16:creationId xmlns:a16="http://schemas.microsoft.com/office/drawing/2014/main" id="{49592A97-B5B1-3E2E-0206-FD230575FA7E}"/>
              </a:ext>
            </a:extLst>
          </p:cNvPr>
          <p:cNvSpPr>
            <a:spLocks noChangeArrowheads="1"/>
          </p:cNvSpPr>
          <p:nvPr/>
        </p:nvSpPr>
        <p:spPr bwMode="auto">
          <a:xfrm>
            <a:off x="210395" y="1705451"/>
            <a:ext cx="5885605"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sz="2000" dirty="0"/>
              <a:t>News sentiment is positive 90%+ of the time regardless of tweet type or stock direction</a:t>
            </a:r>
          </a:p>
          <a:p>
            <a:pPr marL="342900" lvl="0" indent="-342900" eaLnBrk="0" fontAlgn="base" hangingPunct="0">
              <a:spcBef>
                <a:spcPct val="0"/>
              </a:spcBef>
              <a:spcAft>
                <a:spcPct val="0"/>
              </a:spcAft>
              <a:buFont typeface="Arial" panose="020B0604020202020204" pitchFamily="34" charset="0"/>
              <a:buChar char="•"/>
            </a:pPr>
            <a:r>
              <a:rPr lang="en-US" sz="2000" dirty="0"/>
              <a:t>Controversial tweet days show fewer negative articles (7%) than normal days (13%), suggesting they often coincide with genuinely positive business developments</a:t>
            </a:r>
          </a:p>
          <a:p>
            <a:pPr marL="342900" lvl="0" indent="-342900" eaLnBrk="0" fontAlgn="base" hangingPunct="0">
              <a:spcBef>
                <a:spcPct val="0"/>
              </a:spcBef>
              <a:spcAft>
                <a:spcPct val="0"/>
              </a:spcAft>
              <a:buFont typeface="Arial" panose="020B0604020202020204" pitchFamily="34" charset="0"/>
              <a:buChar char="•"/>
            </a:pPr>
            <a:r>
              <a:rPr lang="en-US" sz="2000" dirty="0"/>
              <a:t>Sentiment distribution is remarkably similar across all conditions, which confirms that article sentiment does not predict stock movements</a:t>
            </a:r>
            <a:endParaRPr lang="en-US" altLang="en-US" sz="2000" dirty="0"/>
          </a:p>
        </p:txBody>
      </p:sp>
    </p:spTree>
    <p:extLst>
      <p:ext uri="{BB962C8B-B14F-4D97-AF65-F5344CB8AC3E}">
        <p14:creationId xmlns:p14="http://schemas.microsoft.com/office/powerpoint/2010/main" val="580409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FFD35-0ED2-7249-3DEA-102B7202E6A4}"/>
              </a:ext>
            </a:extLst>
          </p:cNvPr>
          <p:cNvSpPr>
            <a:spLocks noGrp="1"/>
          </p:cNvSpPr>
          <p:nvPr>
            <p:ph type="title"/>
          </p:nvPr>
        </p:nvSpPr>
        <p:spPr>
          <a:xfrm>
            <a:off x="648568" y="-27159"/>
            <a:ext cx="11229577" cy="1187570"/>
          </a:xfrm>
        </p:spPr>
        <p:txBody>
          <a:bodyPr>
            <a:normAutofit fontScale="90000"/>
          </a:bodyPr>
          <a:lstStyle/>
          <a:p>
            <a:r>
              <a:rPr lang="en-US" sz="3800" dirty="0"/>
              <a:t>Phase 2 Findings: </a:t>
            </a:r>
            <a:br>
              <a:rPr lang="en-US" dirty="0"/>
            </a:br>
            <a:r>
              <a:rPr lang="en-US" sz="3200" dirty="0"/>
              <a:t>Stock Movements Compared to Elon’s Tweets &amp; News Sentiment</a:t>
            </a:r>
          </a:p>
        </p:txBody>
      </p:sp>
      <p:sp>
        <p:nvSpPr>
          <p:cNvPr id="3" name="Content Placeholder 2">
            <a:extLst>
              <a:ext uri="{FF2B5EF4-FFF2-40B4-BE49-F238E27FC236}">
                <a16:creationId xmlns:a16="http://schemas.microsoft.com/office/drawing/2014/main" id="{13FFDA88-67D5-54BF-9433-80E6335D0D0D}"/>
              </a:ext>
            </a:extLst>
          </p:cNvPr>
          <p:cNvSpPr>
            <a:spLocks noGrp="1"/>
          </p:cNvSpPr>
          <p:nvPr>
            <p:ph idx="1"/>
          </p:nvPr>
        </p:nvSpPr>
        <p:spPr>
          <a:xfrm>
            <a:off x="648568" y="1346200"/>
            <a:ext cx="10891320" cy="4595629"/>
          </a:xfrm>
        </p:spPr>
        <p:txBody>
          <a:bodyPr>
            <a:normAutofit fontScale="92500" lnSpcReduction="10000"/>
          </a:bodyPr>
          <a:lstStyle/>
          <a:p>
            <a:r>
              <a:rPr lang="en-US" b="1" dirty="0"/>
              <a:t>Initial Finding:</a:t>
            </a:r>
            <a:r>
              <a:rPr lang="en-US" dirty="0"/>
              <a:t> Tweet level analysis showed controversial tweets correlate with 4.6x larger stock movements (0.41% vs 0.09%, p = 0.0016).</a:t>
            </a:r>
          </a:p>
          <a:p>
            <a:r>
              <a:rPr lang="en-US" b="1" dirty="0"/>
              <a:t>Robustness Check:</a:t>
            </a:r>
            <a:r>
              <a:rPr lang="en-US" dirty="0"/>
              <a:t> Day level analysis revealed the effect was inflated by multiple tweets per day. When controlling for this the difference dropped to 2.2x and lost statistical significance (p = 0.195).</a:t>
            </a:r>
          </a:p>
          <a:p>
            <a:r>
              <a:rPr lang="en-US" b="1" dirty="0"/>
              <a:t>Phase 2 -News Analysis:</a:t>
            </a:r>
            <a:r>
              <a:rPr lang="en-US" dirty="0"/>
              <a:t> Controversial days with news coverage averaged 2.95% returns vs 1.55% without news, suggesting media attention drives movements more than tweets alone. News sentiment was consistently positive (0.52 average) regardless of stock direction, showing minimal predictive value.</a:t>
            </a:r>
          </a:p>
          <a:p>
            <a:r>
              <a:rPr lang="en-US" b="1" dirty="0"/>
              <a:t>Conclusion:</a:t>
            </a:r>
            <a:r>
              <a:rPr lang="en-US" dirty="0"/>
              <a:t> While controversial tweets correlate with elevated returns at the tweet level, this relationship is not statistically significant when accounting for multiple tweets per day and appears partially driven by concurrent news coverage rather than tweets alone. Media attention volume matters more than tweet content or sentiment tone.</a:t>
            </a:r>
          </a:p>
          <a:p>
            <a:endParaRPr lang="en-US" dirty="0"/>
          </a:p>
        </p:txBody>
      </p:sp>
      <p:sp>
        <p:nvSpPr>
          <p:cNvPr id="5" name="Footer Placeholder 4">
            <a:extLst>
              <a:ext uri="{FF2B5EF4-FFF2-40B4-BE49-F238E27FC236}">
                <a16:creationId xmlns:a16="http://schemas.microsoft.com/office/drawing/2014/main" id="{405DA7B5-8327-AD32-1B07-DA8F9F2556A4}"/>
              </a:ext>
            </a:extLst>
          </p:cNvPr>
          <p:cNvSpPr>
            <a:spLocks noGrp="1"/>
          </p:cNvSpPr>
          <p:nvPr>
            <p:ph type="ftr" sz="quarter" idx="11"/>
          </p:nvPr>
        </p:nvSpPr>
        <p:spPr/>
        <p:txBody>
          <a:bodyPr/>
          <a:lstStyle/>
          <a:p>
            <a:r>
              <a:rPr lang="en-US"/>
              <a:t>
              </a:t>
            </a:r>
          </a:p>
        </p:txBody>
      </p:sp>
    </p:spTree>
    <p:extLst>
      <p:ext uri="{BB962C8B-B14F-4D97-AF65-F5344CB8AC3E}">
        <p14:creationId xmlns:p14="http://schemas.microsoft.com/office/powerpoint/2010/main" val="1789756446"/>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docProps/app.xml><?xml version="1.0" encoding="utf-8"?>
<Properties xmlns="http://schemas.openxmlformats.org/officeDocument/2006/extended-properties" xmlns:vt="http://schemas.openxmlformats.org/officeDocument/2006/docPropsVTypes">
  <TotalTime>1380</TotalTime>
  <Words>1208</Words>
  <Application>Microsoft Office PowerPoint</Application>
  <PresentationFormat>Widescreen</PresentationFormat>
  <Paragraphs>103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Grandview Display</vt:lpstr>
      <vt:lpstr>Wingdings</vt:lpstr>
      <vt:lpstr>DashVTI</vt:lpstr>
      <vt:lpstr>Investigating Effects on Tesla stock</vt:lpstr>
      <vt:lpstr>Tesla Stock Data Frame Compared to  Tesla News and Elon Musk’s Tweets </vt:lpstr>
      <vt:lpstr>Tesla Stock Data Frame</vt:lpstr>
      <vt:lpstr>News Articles Data Frame</vt:lpstr>
      <vt:lpstr>Elon Musk’s Tweet DF</vt:lpstr>
      <vt:lpstr>Stock Data Frame (Feature Engineering)</vt:lpstr>
      <vt:lpstr>News Article Correlation Results (Price Delta) </vt:lpstr>
      <vt:lpstr>News Article Correlation Results (Price Next Day Delta) </vt:lpstr>
      <vt:lpstr>News Article Correlation Results (Volume Z-Score / Weekly)</vt:lpstr>
      <vt:lpstr>Musk Tweet Feature Engineering</vt:lpstr>
      <vt:lpstr>PowerPoint Presentation</vt:lpstr>
      <vt:lpstr>Tweet &amp; Stock Correlation Findings </vt:lpstr>
      <vt:lpstr>Goal: Categorize news events by sentiment and analyze how they affect stock insights (Samuel Constante) as well how they affect stock insights combined with controversial tweets from Elon’s Twitter account (Patrick Elles)</vt:lpstr>
      <vt:lpstr>Phase 2: Insights ( Stock Delta / News Sentiment )</vt:lpstr>
      <vt:lpstr>Phase 2: Insights (News Sentiment Trends)</vt:lpstr>
      <vt:lpstr>Phase 2: Insights (Stock Delta/ News Sentiment/ Tweets)</vt:lpstr>
      <vt:lpstr>Phase 2: Insights (Stock Delta/ News Sentiment/ Tweets)</vt:lpstr>
      <vt:lpstr>Phase 2 Findings:  Stock Movements Compared to Elon’s Tweets &amp; News Sentiment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elles</dc:creator>
  <cp:lastModifiedBy>patrick elles</cp:lastModifiedBy>
  <cp:revision>8</cp:revision>
  <cp:lastPrinted>2025-12-02T06:16:30Z</cp:lastPrinted>
  <dcterms:created xsi:type="dcterms:W3CDTF">2025-11-20T20:59:10Z</dcterms:created>
  <dcterms:modified xsi:type="dcterms:W3CDTF">2025-12-02T06:18:49Z</dcterms:modified>
</cp:coreProperties>
</file>